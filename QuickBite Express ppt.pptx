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62" r:id="rId3"/>
    <p:sldId id="263" r:id="rId4"/>
    <p:sldId id="264" r:id="rId5"/>
    <p:sldId id="266" r:id="rId6"/>
    <p:sldId id="267" r:id="rId7"/>
    <p:sldId id="268" r:id="rId8"/>
    <p:sldId id="269" r:id="rId9"/>
    <p:sldId id="270" r:id="rId10"/>
    <p:sldId id="271" r:id="rId11"/>
    <p:sldId id="272" r:id="rId12"/>
    <p:sldId id="273" r:id="rId13"/>
    <p:sldId id="274" r:id="rId14"/>
    <p:sldId id="276" r:id="rId15"/>
    <p:sldId id="265" r:id="rId16"/>
    <p:sldId id="278" r:id="rId17"/>
    <p:sldId id="277" r:id="rId18"/>
    <p:sldId id="279"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1118E5-E359-49AB-B971-602162919E69}" v="72" dt="2025-11-09T13:08:42.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r katiyar" userId="fb7190fa42c5d1a7" providerId="LiveId" clId="{9E272D0B-EB77-4A72-932F-10F4DE7554E5}"/>
    <pc:docChg chg="custSel addSld delSld modSld sldOrd">
      <pc:chgData name="Ankur katiyar" userId="fb7190fa42c5d1a7" providerId="LiveId" clId="{9E272D0B-EB77-4A72-932F-10F4DE7554E5}" dt="2025-11-09T13:08:42.170" v="2095" actId="20578"/>
      <pc:docMkLst>
        <pc:docMk/>
      </pc:docMkLst>
      <pc:sldChg chg="addSp delSp modSp add del mod">
        <pc:chgData name="Ankur katiyar" userId="fb7190fa42c5d1a7" providerId="LiveId" clId="{9E272D0B-EB77-4A72-932F-10F4DE7554E5}" dt="2025-11-09T09:25:29.175" v="2077" actId="47"/>
        <pc:sldMkLst>
          <pc:docMk/>
          <pc:sldMk cId="4099809217" sldId="261"/>
        </pc:sldMkLst>
        <pc:spChg chg="add del mod">
          <ac:chgData name="Ankur katiyar" userId="fb7190fa42c5d1a7" providerId="LiveId" clId="{9E272D0B-EB77-4A72-932F-10F4DE7554E5}" dt="2025-11-09T09:24:55.736" v="2063"/>
          <ac:spMkLst>
            <pc:docMk/>
            <pc:sldMk cId="4099809217" sldId="261"/>
            <ac:spMk id="3" creationId="{5F047A1A-98AE-6826-D38D-C3004A62D34C}"/>
          </ac:spMkLst>
        </pc:spChg>
      </pc:sldChg>
      <pc:sldChg chg="modSp add mod">
        <pc:chgData name="Ankur katiyar" userId="fb7190fa42c5d1a7" providerId="LiveId" clId="{9E272D0B-EB77-4A72-932F-10F4DE7554E5}" dt="2025-11-09T13:08:42.170" v="2095" actId="20578"/>
        <pc:sldMkLst>
          <pc:docMk/>
          <pc:sldMk cId="964453475" sldId="262"/>
        </pc:sldMkLst>
        <pc:spChg chg="mod">
          <ac:chgData name="Ankur katiyar" userId="fb7190fa42c5d1a7" providerId="LiveId" clId="{9E272D0B-EB77-4A72-932F-10F4DE7554E5}" dt="2025-11-09T09:25:21.274" v="2076" actId="20577"/>
          <ac:spMkLst>
            <pc:docMk/>
            <pc:sldMk cId="964453475" sldId="262"/>
            <ac:spMk id="2" creationId="{F54366FC-D5F0-D0DD-6FA1-DE50BB05F02E}"/>
          </ac:spMkLst>
        </pc:spChg>
        <pc:spChg chg="mod">
          <ac:chgData name="Ankur katiyar" userId="fb7190fa42c5d1a7" providerId="LiveId" clId="{9E272D0B-EB77-4A72-932F-10F4DE7554E5}" dt="2025-11-09T13:08:42.170" v="2095" actId="20578"/>
          <ac:spMkLst>
            <pc:docMk/>
            <pc:sldMk cId="964453475" sldId="262"/>
            <ac:spMk id="3" creationId="{9D6C0BAB-1D2E-65F0-7A2C-AD1BE940E75D}"/>
          </ac:spMkLst>
        </pc:spChg>
      </pc:sldChg>
      <pc:sldChg chg="addSp modSp add mod ord">
        <pc:chgData name="Ankur katiyar" userId="fb7190fa42c5d1a7" providerId="LiveId" clId="{9E272D0B-EB77-4A72-932F-10F4DE7554E5}" dt="2025-11-07T19:01:24.665" v="782" actId="20577"/>
        <pc:sldMkLst>
          <pc:docMk/>
          <pc:sldMk cId="4090527693" sldId="263"/>
        </pc:sldMkLst>
        <pc:spChg chg="mod">
          <ac:chgData name="Ankur katiyar" userId="fb7190fa42c5d1a7" providerId="LiveId" clId="{9E272D0B-EB77-4A72-932F-10F4DE7554E5}" dt="2025-11-07T18:50:45.881" v="762" actId="14100"/>
          <ac:spMkLst>
            <pc:docMk/>
            <pc:sldMk cId="4090527693" sldId="263"/>
            <ac:spMk id="2" creationId="{9CAD1778-FB75-C4AA-6B3C-175AC2547905}"/>
          </ac:spMkLst>
        </pc:spChg>
        <pc:spChg chg="mod">
          <ac:chgData name="Ankur katiyar" userId="fb7190fa42c5d1a7" providerId="LiveId" clId="{9E272D0B-EB77-4A72-932F-10F4DE7554E5}" dt="2025-11-07T18:51:01.386" v="763" actId="14100"/>
          <ac:spMkLst>
            <pc:docMk/>
            <pc:sldMk cId="4090527693" sldId="263"/>
            <ac:spMk id="3" creationId="{728AD811-7608-DEBB-232A-67C5F4CFC257}"/>
          </ac:spMkLst>
        </pc:spChg>
        <pc:spChg chg="add mod">
          <ac:chgData name="Ankur katiyar" userId="fb7190fa42c5d1a7" providerId="LiveId" clId="{9E272D0B-EB77-4A72-932F-10F4DE7554E5}" dt="2025-11-07T19:01:24.665" v="782" actId="20577"/>
          <ac:spMkLst>
            <pc:docMk/>
            <pc:sldMk cId="4090527693" sldId="263"/>
            <ac:spMk id="6" creationId="{7C23DF1E-4468-E1F3-88B5-609CA4203C59}"/>
          </ac:spMkLst>
        </pc:spChg>
        <pc:picChg chg="add mod">
          <ac:chgData name="Ankur katiyar" userId="fb7190fa42c5d1a7" providerId="LiveId" clId="{9E272D0B-EB77-4A72-932F-10F4DE7554E5}" dt="2025-11-07T18:51:14.074" v="765" actId="14100"/>
          <ac:picMkLst>
            <pc:docMk/>
            <pc:sldMk cId="4090527693" sldId="263"/>
            <ac:picMk id="5" creationId="{7CB1359F-9BD8-3284-CF83-A1F712C73EEB}"/>
          </ac:picMkLst>
        </pc:picChg>
      </pc:sldChg>
      <pc:sldChg chg="addSp delSp modSp add mod">
        <pc:chgData name="Ankur katiyar" userId="fb7190fa42c5d1a7" providerId="LiveId" clId="{9E272D0B-EB77-4A72-932F-10F4DE7554E5}" dt="2025-11-09T09:25:47.448" v="2078" actId="20577"/>
        <pc:sldMkLst>
          <pc:docMk/>
          <pc:sldMk cId="2925116417" sldId="264"/>
        </pc:sldMkLst>
        <pc:spChg chg="mod">
          <ac:chgData name="Ankur katiyar" userId="fb7190fa42c5d1a7" providerId="LiveId" clId="{9E272D0B-EB77-4A72-932F-10F4DE7554E5}" dt="2025-11-07T18:59:57.549" v="771" actId="14100"/>
          <ac:spMkLst>
            <pc:docMk/>
            <pc:sldMk cId="2925116417" sldId="264"/>
            <ac:spMk id="2" creationId="{67AB3162-902C-68EE-21D4-42317FAB127B}"/>
          </ac:spMkLst>
        </pc:spChg>
        <pc:spChg chg="add mod">
          <ac:chgData name="Ankur katiyar" userId="fb7190fa42c5d1a7" providerId="LiveId" clId="{9E272D0B-EB77-4A72-932F-10F4DE7554E5}" dt="2025-11-09T09:25:47.448" v="2078" actId="20577"/>
          <ac:spMkLst>
            <pc:docMk/>
            <pc:sldMk cId="2925116417" sldId="264"/>
            <ac:spMk id="3" creationId="{44E0CEFC-E0EA-EFBB-A6F7-41E170145413}"/>
          </ac:spMkLst>
        </pc:spChg>
        <pc:spChg chg="add mod">
          <ac:chgData name="Ankur katiyar" userId="fb7190fa42c5d1a7" providerId="LiveId" clId="{9E272D0B-EB77-4A72-932F-10F4DE7554E5}" dt="2025-11-07T19:00:12.693" v="773" actId="20577"/>
          <ac:spMkLst>
            <pc:docMk/>
            <pc:sldMk cId="2925116417" sldId="264"/>
            <ac:spMk id="4" creationId="{0C7954B9-11D5-B7A3-A592-296146D86D6F}"/>
          </ac:spMkLst>
        </pc:spChg>
        <pc:picChg chg="add mod">
          <ac:chgData name="Ankur katiyar" userId="fb7190fa42c5d1a7" providerId="LiveId" clId="{9E272D0B-EB77-4A72-932F-10F4DE7554E5}" dt="2025-11-07T19:00:20.685" v="774" actId="1076"/>
          <ac:picMkLst>
            <pc:docMk/>
            <pc:sldMk cId="2925116417" sldId="264"/>
            <ac:picMk id="6" creationId="{639828EF-2E8C-3F5D-1A6F-C586A6A751A5}"/>
          </ac:picMkLst>
        </pc:picChg>
        <pc:picChg chg="add mod">
          <ac:chgData name="Ankur katiyar" userId="fb7190fa42c5d1a7" providerId="LiveId" clId="{9E272D0B-EB77-4A72-932F-10F4DE7554E5}" dt="2025-11-07T19:30:11.413" v="1152" actId="14100"/>
          <ac:picMkLst>
            <pc:docMk/>
            <pc:sldMk cId="2925116417" sldId="264"/>
            <ac:picMk id="7" creationId="{06C70E83-ADE9-BD4D-F9B0-4B3B02E04747}"/>
          </ac:picMkLst>
        </pc:picChg>
      </pc:sldChg>
      <pc:sldChg chg="modSp add mod ord">
        <pc:chgData name="Ankur katiyar" userId="fb7190fa42c5d1a7" providerId="LiveId" clId="{9E272D0B-EB77-4A72-932F-10F4DE7554E5}" dt="2025-11-07T20:24:02.228" v="1975" actId="20577"/>
        <pc:sldMkLst>
          <pc:docMk/>
          <pc:sldMk cId="2584774756" sldId="265"/>
        </pc:sldMkLst>
      </pc:sldChg>
      <pc:sldChg chg="addSp delSp modSp add mod">
        <pc:chgData name="Ankur katiyar" userId="fb7190fa42c5d1a7" providerId="LiveId" clId="{9E272D0B-EB77-4A72-932F-10F4DE7554E5}" dt="2025-11-09T09:26:02.872" v="2079" actId="20577"/>
        <pc:sldMkLst>
          <pc:docMk/>
          <pc:sldMk cId="1071894315" sldId="266"/>
        </pc:sldMkLst>
        <pc:spChg chg="mod">
          <ac:chgData name="Ankur katiyar" userId="fb7190fa42c5d1a7" providerId="LiveId" clId="{9E272D0B-EB77-4A72-932F-10F4DE7554E5}" dt="2025-11-07T19:31:12.232" v="1156" actId="27636"/>
          <ac:spMkLst>
            <pc:docMk/>
            <pc:sldMk cId="1071894315" sldId="266"/>
            <ac:spMk id="2" creationId="{5A2BE3E6-3C65-0FA0-DEE8-9E89772E26F3}"/>
          </ac:spMkLst>
        </pc:spChg>
        <pc:spChg chg="mod">
          <ac:chgData name="Ankur katiyar" userId="fb7190fa42c5d1a7" providerId="LiveId" clId="{9E272D0B-EB77-4A72-932F-10F4DE7554E5}" dt="2025-11-07T19:31:21.192" v="1157" actId="14100"/>
          <ac:spMkLst>
            <pc:docMk/>
            <pc:sldMk cId="1071894315" sldId="266"/>
            <ac:spMk id="4" creationId="{424E28AD-78EB-2682-AD3A-3B84F69D36F5}"/>
          </ac:spMkLst>
        </pc:spChg>
        <pc:spChg chg="add mod">
          <ac:chgData name="Ankur katiyar" userId="fb7190fa42c5d1a7" providerId="LiveId" clId="{9E272D0B-EB77-4A72-932F-10F4DE7554E5}" dt="2025-11-09T09:26:02.872" v="2079" actId="20577"/>
          <ac:spMkLst>
            <pc:docMk/>
            <pc:sldMk cId="1071894315" sldId="266"/>
            <ac:spMk id="6" creationId="{F248353C-D64B-1F54-8EE5-C7CC4E3140F3}"/>
          </ac:spMkLst>
        </pc:spChg>
        <pc:picChg chg="add mod">
          <ac:chgData name="Ankur katiyar" userId="fb7190fa42c5d1a7" providerId="LiveId" clId="{9E272D0B-EB77-4A72-932F-10F4DE7554E5}" dt="2025-11-07T19:31:25.982" v="1158" actId="1076"/>
          <ac:picMkLst>
            <pc:docMk/>
            <pc:sldMk cId="1071894315" sldId="266"/>
            <ac:picMk id="5" creationId="{8E7A3187-5122-8D73-8C3D-5DFA03838E4C}"/>
          </ac:picMkLst>
        </pc:picChg>
      </pc:sldChg>
      <pc:sldChg chg="addSp delSp modSp add mod">
        <pc:chgData name="Ankur katiyar" userId="fb7190fa42c5d1a7" providerId="LiveId" clId="{9E272D0B-EB77-4A72-932F-10F4DE7554E5}" dt="2025-11-07T19:35:49.956" v="1373" actId="14100"/>
        <pc:sldMkLst>
          <pc:docMk/>
          <pc:sldMk cId="770174116" sldId="267"/>
        </pc:sldMkLst>
        <pc:spChg chg="mod">
          <ac:chgData name="Ankur katiyar" userId="fb7190fa42c5d1a7" providerId="LiveId" clId="{9E272D0B-EB77-4A72-932F-10F4DE7554E5}" dt="2025-11-07T19:10:03.503" v="1028" actId="14100"/>
          <ac:spMkLst>
            <pc:docMk/>
            <pc:sldMk cId="770174116" sldId="267"/>
            <ac:spMk id="2" creationId="{1FE8D165-A2CF-6E95-A410-CEAA0AABEA7B}"/>
          </ac:spMkLst>
        </pc:spChg>
        <pc:spChg chg="mod">
          <ac:chgData name="Ankur katiyar" userId="fb7190fa42c5d1a7" providerId="LiveId" clId="{9E272D0B-EB77-4A72-932F-10F4DE7554E5}" dt="2025-11-07T19:10:15.408" v="1029" actId="14100"/>
          <ac:spMkLst>
            <pc:docMk/>
            <pc:sldMk cId="770174116" sldId="267"/>
            <ac:spMk id="4" creationId="{364C6918-AE1D-620D-7FFC-1D07C344D30E}"/>
          </ac:spMkLst>
        </pc:spChg>
        <pc:spChg chg="add mod">
          <ac:chgData name="Ankur katiyar" userId="fb7190fa42c5d1a7" providerId="LiveId" clId="{9E272D0B-EB77-4A72-932F-10F4DE7554E5}" dt="2025-11-07T19:16:56.863" v="1106" actId="14100"/>
          <ac:spMkLst>
            <pc:docMk/>
            <pc:sldMk cId="770174116" sldId="267"/>
            <ac:spMk id="7" creationId="{A8D4B6B9-2AE6-71FD-16C7-961986A0A186}"/>
          </ac:spMkLst>
        </pc:spChg>
        <pc:spChg chg="add mod">
          <ac:chgData name="Ankur katiyar" userId="fb7190fa42c5d1a7" providerId="LiveId" clId="{9E272D0B-EB77-4A72-932F-10F4DE7554E5}" dt="2025-11-07T19:17:39.865" v="1107"/>
          <ac:spMkLst>
            <pc:docMk/>
            <pc:sldMk cId="770174116" sldId="267"/>
            <ac:spMk id="8" creationId="{5F351CB7-3A65-DC3E-6544-1DF5FB929109}"/>
          </ac:spMkLst>
        </pc:spChg>
        <pc:spChg chg="add mod">
          <ac:chgData name="Ankur katiyar" userId="fb7190fa42c5d1a7" providerId="LiveId" clId="{9E272D0B-EB77-4A72-932F-10F4DE7554E5}" dt="2025-11-07T19:35:40.228" v="1372" actId="14100"/>
          <ac:spMkLst>
            <pc:docMk/>
            <pc:sldMk cId="770174116" sldId="267"/>
            <ac:spMk id="13" creationId="{7E31B83A-E068-263C-C3E7-0D4CD07BF92D}"/>
          </ac:spMkLst>
        </pc:spChg>
        <pc:picChg chg="add mod">
          <ac:chgData name="Ankur katiyar" userId="fb7190fa42c5d1a7" providerId="LiveId" clId="{9E272D0B-EB77-4A72-932F-10F4DE7554E5}" dt="2025-11-07T19:35:49.956" v="1373" actId="14100"/>
          <ac:picMkLst>
            <pc:docMk/>
            <pc:sldMk cId="770174116" sldId="267"/>
            <ac:picMk id="6" creationId="{6D317148-C305-690D-89FB-40BA962D5ED2}"/>
          </ac:picMkLst>
        </pc:picChg>
        <pc:picChg chg="add mod modCrop">
          <ac:chgData name="Ankur katiyar" userId="fb7190fa42c5d1a7" providerId="LiveId" clId="{9E272D0B-EB77-4A72-932F-10F4DE7554E5}" dt="2025-11-07T19:11:04.898" v="1036" actId="1076"/>
          <ac:picMkLst>
            <pc:docMk/>
            <pc:sldMk cId="770174116" sldId="267"/>
            <ac:picMk id="10" creationId="{86994166-26F3-D598-E650-E0BB6A65CE84}"/>
          </ac:picMkLst>
        </pc:picChg>
        <pc:picChg chg="add mod modCrop">
          <ac:chgData name="Ankur katiyar" userId="fb7190fa42c5d1a7" providerId="LiveId" clId="{9E272D0B-EB77-4A72-932F-10F4DE7554E5}" dt="2025-11-07T19:13:46.548" v="1071" actId="14100"/>
          <ac:picMkLst>
            <pc:docMk/>
            <pc:sldMk cId="770174116" sldId="267"/>
            <ac:picMk id="12" creationId="{082ECE6D-3214-9E03-C01A-9A1731F5C2C5}"/>
          </ac:picMkLst>
        </pc:picChg>
      </pc:sldChg>
      <pc:sldChg chg="addSp delSp modSp add mod">
        <pc:chgData name="Ankur katiyar" userId="fb7190fa42c5d1a7" providerId="LiveId" clId="{9E272D0B-EB77-4A72-932F-10F4DE7554E5}" dt="2025-11-07T19:39:36.460" v="1505" actId="20577"/>
        <pc:sldMkLst>
          <pc:docMk/>
          <pc:sldMk cId="2491444701" sldId="268"/>
        </pc:sldMkLst>
        <pc:spChg chg="add mod">
          <ac:chgData name="Ankur katiyar" userId="fb7190fa42c5d1a7" providerId="LiveId" clId="{9E272D0B-EB77-4A72-932F-10F4DE7554E5}" dt="2025-11-07T19:39:36.460" v="1505" actId="20577"/>
          <ac:spMkLst>
            <pc:docMk/>
            <pc:sldMk cId="2491444701" sldId="268"/>
            <ac:spMk id="4" creationId="{A076EB33-4B22-B734-6CE1-0788C201553B}"/>
          </ac:spMkLst>
        </pc:spChg>
        <pc:picChg chg="add mod">
          <ac:chgData name="Ankur katiyar" userId="fb7190fa42c5d1a7" providerId="LiveId" clId="{9E272D0B-EB77-4A72-932F-10F4DE7554E5}" dt="2025-11-07T19:37:54.536" v="1378" actId="1076"/>
          <ac:picMkLst>
            <pc:docMk/>
            <pc:sldMk cId="2491444701" sldId="268"/>
            <ac:picMk id="3" creationId="{F25CD57D-5DFB-4665-BA9C-13C4C41EB95D}"/>
          </ac:picMkLst>
        </pc:picChg>
      </pc:sldChg>
      <pc:sldChg chg="delSp modSp add mod ord">
        <pc:chgData name="Ankur katiyar" userId="fb7190fa42c5d1a7" providerId="LiveId" clId="{9E272D0B-EB77-4A72-932F-10F4DE7554E5}" dt="2025-11-07T15:12:52.799" v="691" actId="20577"/>
        <pc:sldMkLst>
          <pc:docMk/>
          <pc:sldMk cId="2072597994" sldId="269"/>
        </pc:sldMkLst>
        <pc:spChg chg="mod">
          <ac:chgData name="Ankur katiyar" userId="fb7190fa42c5d1a7" providerId="LiveId" clId="{9E272D0B-EB77-4A72-932F-10F4DE7554E5}" dt="2025-11-07T15:11:54.841" v="682"/>
          <ac:spMkLst>
            <pc:docMk/>
            <pc:sldMk cId="2072597994" sldId="269"/>
            <ac:spMk id="2" creationId="{F7000E4A-B0FC-F4A7-B58D-A1B6668E9749}"/>
          </ac:spMkLst>
        </pc:spChg>
        <pc:spChg chg="mod">
          <ac:chgData name="Ankur katiyar" userId="fb7190fa42c5d1a7" providerId="LiveId" clId="{9E272D0B-EB77-4A72-932F-10F4DE7554E5}" dt="2025-11-07T15:12:52.799" v="691" actId="20577"/>
          <ac:spMkLst>
            <pc:docMk/>
            <pc:sldMk cId="2072597994" sldId="269"/>
            <ac:spMk id="4" creationId="{D5BD0A8E-3FA7-1115-D93B-9ED7510E4DB5}"/>
          </ac:spMkLst>
        </pc:spChg>
      </pc:sldChg>
      <pc:sldChg chg="addSp modSp add mod">
        <pc:chgData name="Ankur katiyar" userId="fb7190fa42c5d1a7" providerId="LiveId" clId="{9E272D0B-EB77-4A72-932F-10F4DE7554E5}" dt="2025-11-09T09:26:37.507" v="2081" actId="20577"/>
        <pc:sldMkLst>
          <pc:docMk/>
          <pc:sldMk cId="1213976965" sldId="270"/>
        </pc:sldMkLst>
        <pc:spChg chg="mod">
          <ac:chgData name="Ankur katiyar" userId="fb7190fa42c5d1a7" providerId="LiveId" clId="{9E272D0B-EB77-4A72-932F-10F4DE7554E5}" dt="2025-11-07T15:17:14.633" v="696"/>
          <ac:spMkLst>
            <pc:docMk/>
            <pc:sldMk cId="1213976965" sldId="270"/>
            <ac:spMk id="2" creationId="{5D9236C2-EB0F-BF4A-2132-33594C8E05D6}"/>
          </ac:spMkLst>
        </pc:spChg>
        <pc:spChg chg="add mod">
          <ac:chgData name="Ankur katiyar" userId="fb7190fa42c5d1a7" providerId="LiveId" clId="{9E272D0B-EB77-4A72-932F-10F4DE7554E5}" dt="2025-11-09T09:26:37.507" v="2081" actId="20577"/>
          <ac:spMkLst>
            <pc:docMk/>
            <pc:sldMk cId="1213976965" sldId="270"/>
            <ac:spMk id="3" creationId="{832595EE-44FB-2F97-43B7-045D68C25BE4}"/>
          </ac:spMkLst>
        </pc:spChg>
        <pc:spChg chg="mod">
          <ac:chgData name="Ankur katiyar" userId="fb7190fa42c5d1a7" providerId="LiveId" clId="{9E272D0B-EB77-4A72-932F-10F4DE7554E5}" dt="2025-11-07T15:17:59.590" v="703" actId="20577"/>
          <ac:spMkLst>
            <pc:docMk/>
            <pc:sldMk cId="1213976965" sldId="270"/>
            <ac:spMk id="4" creationId="{894BB81E-BB9B-F368-BE8F-017CBB0A58C3}"/>
          </ac:spMkLst>
        </pc:spChg>
        <pc:picChg chg="add mod">
          <ac:chgData name="Ankur katiyar" userId="fb7190fa42c5d1a7" providerId="LiveId" clId="{9E272D0B-EB77-4A72-932F-10F4DE7554E5}" dt="2025-11-07T15:18:54.681" v="706" actId="14100"/>
          <ac:picMkLst>
            <pc:docMk/>
            <pc:sldMk cId="1213976965" sldId="270"/>
            <ac:picMk id="5" creationId="{D58EE8EF-3563-9331-F1AC-27524A7319D7}"/>
          </ac:picMkLst>
        </pc:picChg>
      </pc:sldChg>
      <pc:sldChg chg="addSp modSp add mod">
        <pc:chgData name="Ankur katiyar" userId="fb7190fa42c5d1a7" providerId="LiveId" clId="{9E272D0B-EB77-4A72-932F-10F4DE7554E5}" dt="2025-11-09T09:26:57.108" v="2082" actId="20577"/>
        <pc:sldMkLst>
          <pc:docMk/>
          <pc:sldMk cId="3163324657" sldId="271"/>
        </pc:sldMkLst>
        <pc:spChg chg="mod">
          <ac:chgData name="Ankur katiyar" userId="fb7190fa42c5d1a7" providerId="LiveId" clId="{9E272D0B-EB77-4A72-932F-10F4DE7554E5}" dt="2025-11-07T15:19:45.873" v="710"/>
          <ac:spMkLst>
            <pc:docMk/>
            <pc:sldMk cId="3163324657" sldId="271"/>
            <ac:spMk id="2" creationId="{EA24E700-913D-E4C7-2AB3-265215E1E4DB}"/>
          </ac:spMkLst>
        </pc:spChg>
        <pc:spChg chg="add mod">
          <ac:chgData name="Ankur katiyar" userId="fb7190fa42c5d1a7" providerId="LiveId" clId="{9E272D0B-EB77-4A72-932F-10F4DE7554E5}" dt="2025-11-09T09:26:57.108" v="2082" actId="20577"/>
          <ac:spMkLst>
            <pc:docMk/>
            <pc:sldMk cId="3163324657" sldId="271"/>
            <ac:spMk id="3" creationId="{FF8F337A-BB9D-80EC-EE8D-2D3699223A46}"/>
          </ac:spMkLst>
        </pc:spChg>
        <pc:spChg chg="mod">
          <ac:chgData name="Ankur katiyar" userId="fb7190fa42c5d1a7" providerId="LiveId" clId="{9E272D0B-EB77-4A72-932F-10F4DE7554E5}" dt="2025-11-07T15:20:16.897" v="715" actId="20577"/>
          <ac:spMkLst>
            <pc:docMk/>
            <pc:sldMk cId="3163324657" sldId="271"/>
            <ac:spMk id="4" creationId="{FCB8C4B6-DD83-78C4-F2D8-FD59E067C632}"/>
          </ac:spMkLst>
        </pc:spChg>
        <pc:picChg chg="add mod">
          <ac:chgData name="Ankur katiyar" userId="fb7190fa42c5d1a7" providerId="LiveId" clId="{9E272D0B-EB77-4A72-932F-10F4DE7554E5}" dt="2025-11-07T15:21:32.483" v="717" actId="1076"/>
          <ac:picMkLst>
            <pc:docMk/>
            <pc:sldMk cId="3163324657" sldId="271"/>
            <ac:picMk id="5" creationId="{D06D14A8-53AA-C335-7DE1-997E4272C7B9}"/>
          </ac:picMkLst>
        </pc:picChg>
      </pc:sldChg>
      <pc:sldChg chg="addSp delSp modSp add mod ord">
        <pc:chgData name="Ankur katiyar" userId="fb7190fa42c5d1a7" providerId="LiveId" clId="{9E272D0B-EB77-4A72-932F-10F4DE7554E5}" dt="2025-11-09T09:27:21.703" v="2084" actId="20577"/>
        <pc:sldMkLst>
          <pc:docMk/>
          <pc:sldMk cId="1215549778" sldId="272"/>
        </pc:sldMkLst>
        <pc:spChg chg="mod">
          <ac:chgData name="Ankur katiyar" userId="fb7190fa42c5d1a7" providerId="LiveId" clId="{9E272D0B-EB77-4A72-932F-10F4DE7554E5}" dt="2025-11-07T15:22:22.673" v="723"/>
          <ac:spMkLst>
            <pc:docMk/>
            <pc:sldMk cId="1215549778" sldId="272"/>
            <ac:spMk id="2" creationId="{C5108A27-8EF9-31BA-7F93-042B626D0673}"/>
          </ac:spMkLst>
        </pc:spChg>
        <pc:spChg chg="mod">
          <ac:chgData name="Ankur katiyar" userId="fb7190fa42c5d1a7" providerId="LiveId" clId="{9E272D0B-EB77-4A72-932F-10F4DE7554E5}" dt="2025-11-07T15:23:17.488" v="730" actId="20577"/>
          <ac:spMkLst>
            <pc:docMk/>
            <pc:sldMk cId="1215549778" sldId="272"/>
            <ac:spMk id="4" creationId="{C3C36A60-B1EA-8F80-E8F3-97C7DD9C2FF3}"/>
          </ac:spMkLst>
        </pc:spChg>
        <pc:spChg chg="add mod">
          <ac:chgData name="Ankur katiyar" userId="fb7190fa42c5d1a7" providerId="LiveId" clId="{9E272D0B-EB77-4A72-932F-10F4DE7554E5}" dt="2025-11-09T09:27:21.703" v="2084" actId="20577"/>
          <ac:spMkLst>
            <pc:docMk/>
            <pc:sldMk cId="1215549778" sldId="272"/>
            <ac:spMk id="5" creationId="{D33E8C94-48F5-FEE4-6BA5-015DDCAB6C00}"/>
          </ac:spMkLst>
        </pc:spChg>
      </pc:sldChg>
      <pc:sldChg chg="addSp delSp modSp add mod">
        <pc:chgData name="Ankur katiyar" userId="fb7190fa42c5d1a7" providerId="LiveId" clId="{9E272D0B-EB77-4A72-932F-10F4DE7554E5}" dt="2025-11-07T20:13:34.671" v="1688"/>
        <pc:sldMkLst>
          <pc:docMk/>
          <pc:sldMk cId="3303193885" sldId="273"/>
        </pc:sldMkLst>
        <pc:spChg chg="mod">
          <ac:chgData name="Ankur katiyar" userId="fb7190fa42c5d1a7" providerId="LiveId" clId="{9E272D0B-EB77-4A72-932F-10F4DE7554E5}" dt="2025-11-07T20:09:55.185" v="1661" actId="27636"/>
          <ac:spMkLst>
            <pc:docMk/>
            <pc:sldMk cId="3303193885" sldId="273"/>
            <ac:spMk id="2" creationId="{33D946ED-0178-34E3-FD48-BAB2B1C1708C}"/>
          </ac:spMkLst>
        </pc:spChg>
        <pc:spChg chg="mod">
          <ac:chgData name="Ankur katiyar" userId="fb7190fa42c5d1a7" providerId="LiveId" clId="{9E272D0B-EB77-4A72-932F-10F4DE7554E5}" dt="2025-11-07T20:10:05.725" v="1662" actId="14100"/>
          <ac:spMkLst>
            <pc:docMk/>
            <pc:sldMk cId="3303193885" sldId="273"/>
            <ac:spMk id="4" creationId="{598E2C6F-9C45-D7D6-D10D-BF6CCE4394BA}"/>
          </ac:spMkLst>
        </pc:spChg>
        <pc:picChg chg="add mod">
          <ac:chgData name="Ankur katiyar" userId="fb7190fa42c5d1a7" providerId="LiveId" clId="{9E272D0B-EB77-4A72-932F-10F4DE7554E5}" dt="2025-11-07T20:10:58.452" v="1671" actId="1076"/>
          <ac:picMkLst>
            <pc:docMk/>
            <pc:sldMk cId="3303193885" sldId="273"/>
            <ac:picMk id="6" creationId="{8D6BA6F8-5731-2F14-D7A7-66269D574C08}"/>
          </ac:picMkLst>
        </pc:picChg>
      </pc:sldChg>
      <pc:sldChg chg="addSp modSp add mod">
        <pc:chgData name="Ankur katiyar" userId="fb7190fa42c5d1a7" providerId="LiveId" clId="{9E272D0B-EB77-4A72-932F-10F4DE7554E5}" dt="2025-11-07T20:37:34.412" v="2056" actId="20577"/>
        <pc:sldMkLst>
          <pc:docMk/>
          <pc:sldMk cId="949953058" sldId="274"/>
        </pc:sldMkLst>
        <pc:spChg chg="mod">
          <ac:chgData name="Ankur katiyar" userId="fb7190fa42c5d1a7" providerId="LiveId" clId="{9E272D0B-EB77-4A72-932F-10F4DE7554E5}" dt="2025-11-07T20:17:12.789" v="1695" actId="27636"/>
          <ac:spMkLst>
            <pc:docMk/>
            <pc:sldMk cId="949953058" sldId="274"/>
            <ac:spMk id="2" creationId="{20C70914-236E-DDAD-AB56-A4E00A85EA30}"/>
          </ac:spMkLst>
        </pc:spChg>
        <pc:spChg chg="mod">
          <ac:chgData name="Ankur katiyar" userId="fb7190fa42c5d1a7" providerId="LiveId" clId="{9E272D0B-EB77-4A72-932F-10F4DE7554E5}" dt="2025-11-07T20:37:34.412" v="2056" actId="20577"/>
          <ac:spMkLst>
            <pc:docMk/>
            <pc:sldMk cId="949953058" sldId="274"/>
            <ac:spMk id="4" creationId="{A74C801E-8F85-AC47-71AA-8A6A5184DE47}"/>
          </ac:spMkLst>
        </pc:spChg>
        <pc:picChg chg="add mod">
          <ac:chgData name="Ankur katiyar" userId="fb7190fa42c5d1a7" providerId="LiveId" clId="{9E272D0B-EB77-4A72-932F-10F4DE7554E5}" dt="2025-11-07T20:17:39.923" v="1699" actId="1076"/>
          <ac:picMkLst>
            <pc:docMk/>
            <pc:sldMk cId="949953058" sldId="274"/>
            <ac:picMk id="5" creationId="{05663A8E-80F4-EED3-00D3-041EA3792A74}"/>
          </ac:picMkLst>
        </pc:picChg>
      </pc:sldChg>
      <pc:sldChg chg="add">
        <pc:chgData name="Ankur katiyar" userId="fb7190fa42c5d1a7" providerId="LiveId" clId="{9E272D0B-EB77-4A72-932F-10F4DE7554E5}" dt="2025-11-07T20:36:35.326" v="2054" actId="2890"/>
        <pc:sldMkLst>
          <pc:docMk/>
          <pc:sldMk cId="2829474385" sldId="276"/>
        </pc:sldMkLst>
      </pc:sldChg>
      <pc:sldChg chg="add">
        <pc:chgData name="Ankur katiyar" userId="fb7190fa42c5d1a7" providerId="LiveId" clId="{9E272D0B-EB77-4A72-932F-10F4DE7554E5}" dt="2025-11-07T20:36:41.516" v="2055" actId="2890"/>
        <pc:sldMkLst>
          <pc:docMk/>
          <pc:sldMk cId="1456044176" sldId="277"/>
        </pc:sldMkLst>
      </pc:sldChg>
      <pc:sldChg chg="delSp modSp add del mod">
        <pc:chgData name="Ankur katiyar" userId="fb7190fa42c5d1a7" providerId="LiveId" clId="{9E272D0B-EB77-4A72-932F-10F4DE7554E5}" dt="2025-11-09T09:47:41.273" v="2094" actId="2696"/>
        <pc:sldMkLst>
          <pc:docMk/>
          <pc:sldMk cId="1182732925" sldId="282"/>
        </pc:sldMkLst>
        <pc:spChg chg="del mod">
          <ac:chgData name="Ankur katiyar" userId="fb7190fa42c5d1a7" providerId="LiveId" clId="{9E272D0B-EB77-4A72-932F-10F4DE7554E5}" dt="2025-11-09T09:44:48.532" v="2091" actId="478"/>
          <ac:spMkLst>
            <pc:docMk/>
            <pc:sldMk cId="1182732925" sldId="282"/>
            <ac:spMk id="2" creationId="{C9982867-ED9E-4D72-621E-586351FE040F}"/>
          </ac:spMkLst>
        </pc:spChg>
        <pc:spChg chg="del mod">
          <ac:chgData name="Ankur katiyar" userId="fb7190fa42c5d1a7" providerId="LiveId" clId="{9E272D0B-EB77-4A72-932F-10F4DE7554E5}" dt="2025-11-09T09:44:48.547" v="2093"/>
          <ac:spMkLst>
            <pc:docMk/>
            <pc:sldMk cId="1182732925" sldId="282"/>
            <ac:spMk id="6" creationId="{BE007737-3A71-DF79-AD71-513FF1716CAB}"/>
          </ac:spMkLst>
        </pc:spChg>
      </pc:sldChg>
      <pc:sldChg chg="new del">
        <pc:chgData name="Ankur katiyar" userId="fb7190fa42c5d1a7" providerId="LiveId" clId="{9E272D0B-EB77-4A72-932F-10F4DE7554E5}" dt="2025-11-09T09:44:25.744" v="2086" actId="2696"/>
        <pc:sldMkLst>
          <pc:docMk/>
          <pc:sldMk cId="1534083336" sldId="2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C6773-C85B-4578-AC68-990FAC7D2FC2}" type="datetimeFigureOut">
              <a:rPr lang="en-IN" smtClean="0"/>
              <a:t>09-11-2025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B723B-8569-4F50-831D-59802A4EF41B}" type="slidenum">
              <a:rPr lang="en-IN" smtClean="0"/>
              <a:t>‹#›</a:t>
            </a:fld>
            <a:endParaRPr lang="en-IN"/>
          </a:p>
        </p:txBody>
      </p:sp>
    </p:spTree>
    <p:extLst>
      <p:ext uri="{BB962C8B-B14F-4D97-AF65-F5344CB8AC3E}">
        <p14:creationId xmlns:p14="http://schemas.microsoft.com/office/powerpoint/2010/main" val="2620754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1EB723B-8569-4F50-831D-59802A4EF41B}" type="slidenum">
              <a:rPr lang="en-IN" smtClean="0"/>
              <a:t>3</a:t>
            </a:fld>
            <a:endParaRPr lang="en-IN"/>
          </a:p>
        </p:txBody>
      </p:sp>
    </p:spTree>
    <p:extLst>
      <p:ext uri="{BB962C8B-B14F-4D97-AF65-F5344CB8AC3E}">
        <p14:creationId xmlns:p14="http://schemas.microsoft.com/office/powerpoint/2010/main" val="3544599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9191-48B9-2718-F4CD-400E99E0C3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CC21C02-1570-7915-B061-B802E6C24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349A26-32F8-DC04-9038-1A1ACF3BDBAE}"/>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5" name="Footer Placeholder 4">
            <a:extLst>
              <a:ext uri="{FF2B5EF4-FFF2-40B4-BE49-F238E27FC236}">
                <a16:creationId xmlns:a16="http://schemas.microsoft.com/office/drawing/2014/main" id="{1729B15D-9E4F-9616-9BA1-106AAFA1B2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BC36C1-8C0D-086B-A376-331F5C7DD94F}"/>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367199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06F60-F455-B4E4-DA0B-A744ABA0FF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DC30C5-DEEC-FDC1-F92D-27E196D3D2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203B1B-BB69-25AB-B62C-22B314B5DC2D}"/>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5" name="Footer Placeholder 4">
            <a:extLst>
              <a:ext uri="{FF2B5EF4-FFF2-40B4-BE49-F238E27FC236}">
                <a16:creationId xmlns:a16="http://schemas.microsoft.com/office/drawing/2014/main" id="{07CEEE32-2FE4-9BEE-8AAF-2D9E17C9FF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232BC2-7918-EDF4-5877-3EEED11673D3}"/>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3933894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18020-46E0-987E-6B4C-984BB90197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1D3CBB-D1A9-F602-C994-AE66A0D670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31E44E-6D2D-4EFE-12EC-4368A48C8AF4}"/>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5" name="Footer Placeholder 4">
            <a:extLst>
              <a:ext uri="{FF2B5EF4-FFF2-40B4-BE49-F238E27FC236}">
                <a16:creationId xmlns:a16="http://schemas.microsoft.com/office/drawing/2014/main" id="{999E15F3-09A3-6C17-C33B-47ADEC93A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0B35F1-3644-3E92-2C0E-94A388DE4BEC}"/>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233670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B9609-74E6-567E-2719-64B4BE54E8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7F57A6-B183-163E-7D12-653B10721E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C7DC7A-680F-0942-BE06-CD92197B37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B4C510-A1F6-CE85-ABEF-75052FD2C83B}"/>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6" name="Footer Placeholder 5">
            <a:extLst>
              <a:ext uri="{FF2B5EF4-FFF2-40B4-BE49-F238E27FC236}">
                <a16:creationId xmlns:a16="http://schemas.microsoft.com/office/drawing/2014/main" id="{9AFC9D0C-9879-2F28-F5B0-86A85FFF3B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CD629A-EDFF-0287-A434-4F3BBAEEDBDE}"/>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2138636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6961-D331-77AD-5D44-2C7DC7A38E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F9144F-7498-92B8-2415-F2D835B902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20DAF7-9DD7-D445-FCEE-FA8F1D7BC4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804B300-C4AE-C04F-D0F0-CD6E14631E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06370D-26F1-E1FB-1542-D0B53805E3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2BE282-4500-DD20-7DE4-84CD752D523F}"/>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8" name="Footer Placeholder 7">
            <a:extLst>
              <a:ext uri="{FF2B5EF4-FFF2-40B4-BE49-F238E27FC236}">
                <a16:creationId xmlns:a16="http://schemas.microsoft.com/office/drawing/2014/main" id="{E0113D33-5B53-2ADD-3845-434AE8F9F9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10A7E9-0A74-5642-0953-4370BFB9B712}"/>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1088024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3ECE-1F4C-3E01-1340-374D00A210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C9A5C3-E1D2-ABE3-590A-2C8849CC128F}"/>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4" name="Footer Placeholder 3">
            <a:extLst>
              <a:ext uri="{FF2B5EF4-FFF2-40B4-BE49-F238E27FC236}">
                <a16:creationId xmlns:a16="http://schemas.microsoft.com/office/drawing/2014/main" id="{99C9E867-274E-1995-A4A0-AA78626A36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1A97DD-9073-76EE-DD36-6DB3E8EA5887}"/>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1500924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44335A-B92B-87C8-F32A-3123AD744782}"/>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3" name="Footer Placeholder 2">
            <a:extLst>
              <a:ext uri="{FF2B5EF4-FFF2-40B4-BE49-F238E27FC236}">
                <a16:creationId xmlns:a16="http://schemas.microsoft.com/office/drawing/2014/main" id="{99485120-D813-A94E-0CEF-FEEABEFBFE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A16B8C-9661-5D47-C334-602E8DE215CD}"/>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2081241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05DAB-3E41-2047-BEBB-46D08ACBDD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928F0A-3BE7-8F07-9C17-EB0056B60F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124682-D16D-969C-511B-3B24E5C8C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8A40A-9E11-90C2-3AF4-C5945E2DDA99}"/>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6" name="Footer Placeholder 5">
            <a:extLst>
              <a:ext uri="{FF2B5EF4-FFF2-40B4-BE49-F238E27FC236}">
                <a16:creationId xmlns:a16="http://schemas.microsoft.com/office/drawing/2014/main" id="{254E7204-A4D3-561D-E5EF-F936CFC661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D44F4F-474D-29AA-3A0B-D9B9C62CCCE5}"/>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337711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FC91A-5EA9-ACA5-EEC5-B9EEF9917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F44CE3-56CA-2A6E-31BD-4A1443D9F4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EA256A-ADC7-5D2E-4BB9-F7EA8022C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D2B9B3-FB11-C7B3-3E0B-09C5E16686AE}"/>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6" name="Footer Placeholder 5">
            <a:extLst>
              <a:ext uri="{FF2B5EF4-FFF2-40B4-BE49-F238E27FC236}">
                <a16:creationId xmlns:a16="http://schemas.microsoft.com/office/drawing/2014/main" id="{BC375981-E0FE-A0D8-028C-DF4F9986EB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77ACD-8ADA-E07F-6351-0192AF1EBBCE}"/>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3431154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010F-F5B1-3134-66BA-20056D39D6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11B10C-B389-66EB-D593-072F2D95ED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A3E676-23AE-6D89-DA29-88BF8A2D08FD}"/>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5" name="Footer Placeholder 4">
            <a:extLst>
              <a:ext uri="{FF2B5EF4-FFF2-40B4-BE49-F238E27FC236}">
                <a16:creationId xmlns:a16="http://schemas.microsoft.com/office/drawing/2014/main" id="{4829FA45-311F-6B81-B655-076E5C9259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A57AAC-4BF6-98CD-1330-15EE7ABBC36B}"/>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3595894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AEB7A-5684-83EF-D047-1A6A391158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BDF623-511B-3CCF-3E13-8DD5470BBD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272A67-7E4B-5931-F78D-7097CDCA4E1D}"/>
              </a:ext>
            </a:extLst>
          </p:cNvPr>
          <p:cNvSpPr>
            <a:spLocks noGrp="1"/>
          </p:cNvSpPr>
          <p:nvPr>
            <p:ph type="dt" sz="half" idx="10"/>
          </p:nvPr>
        </p:nvSpPr>
        <p:spPr/>
        <p:txBody>
          <a:bodyPr/>
          <a:lstStyle/>
          <a:p>
            <a:fld id="{6F40BD0E-FF4C-41D6-A0D8-818AB041A6CB}" type="datetimeFigureOut">
              <a:rPr lang="en-IN" smtClean="0"/>
              <a:t>09-11-2025</a:t>
            </a:fld>
            <a:endParaRPr lang="en-IN"/>
          </a:p>
        </p:txBody>
      </p:sp>
      <p:sp>
        <p:nvSpPr>
          <p:cNvPr id="5" name="Footer Placeholder 4">
            <a:extLst>
              <a:ext uri="{FF2B5EF4-FFF2-40B4-BE49-F238E27FC236}">
                <a16:creationId xmlns:a16="http://schemas.microsoft.com/office/drawing/2014/main" id="{3B36DECE-FF55-C40B-B39C-EBD0F80ACE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3E6F8E-E6DB-A8EB-5F70-36D60965A2DA}"/>
              </a:ext>
            </a:extLst>
          </p:cNvPr>
          <p:cNvSpPr>
            <a:spLocks noGrp="1"/>
          </p:cNvSpPr>
          <p:nvPr>
            <p:ph type="sldNum" sz="quarter" idx="12"/>
          </p:nvPr>
        </p:nvSpPr>
        <p:spPr/>
        <p:txBody>
          <a:bodyPr/>
          <a:lstStyle/>
          <a:p>
            <a:fld id="{F7C8B59B-92EA-4966-BAAE-F7DE7A6EE896}" type="slidenum">
              <a:rPr lang="en-IN" smtClean="0"/>
              <a:t>‹#›</a:t>
            </a:fld>
            <a:endParaRPr lang="en-IN"/>
          </a:p>
        </p:txBody>
      </p:sp>
    </p:spTree>
    <p:extLst>
      <p:ext uri="{BB962C8B-B14F-4D97-AF65-F5344CB8AC3E}">
        <p14:creationId xmlns:p14="http://schemas.microsoft.com/office/powerpoint/2010/main" val="1634033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0C8D84-DFB4-1F1C-8C42-F8D470676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D3C08D-E775-BE92-72D5-A81352DA3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7F06FC-B2FB-99A3-8D95-813180F6D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40BD0E-FF4C-41D6-A0D8-818AB041A6CB}" type="datetimeFigureOut">
              <a:rPr lang="en-IN" smtClean="0"/>
              <a:t>09-11-2025</a:t>
            </a:fld>
            <a:endParaRPr lang="en-IN"/>
          </a:p>
        </p:txBody>
      </p:sp>
      <p:sp>
        <p:nvSpPr>
          <p:cNvPr id="5" name="Footer Placeholder 4">
            <a:extLst>
              <a:ext uri="{FF2B5EF4-FFF2-40B4-BE49-F238E27FC236}">
                <a16:creationId xmlns:a16="http://schemas.microsoft.com/office/drawing/2014/main" id="{7CC29E4A-FAF6-FB65-2FB1-0A2C168888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6B42A14-62AE-FD87-59D6-17D975F39D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C8B59B-92EA-4966-BAAE-F7DE7A6EE896}" type="slidenum">
              <a:rPr lang="en-IN" smtClean="0"/>
              <a:t>‹#›</a:t>
            </a:fld>
            <a:endParaRPr lang="en-IN"/>
          </a:p>
        </p:txBody>
      </p:sp>
    </p:spTree>
    <p:extLst>
      <p:ext uri="{BB962C8B-B14F-4D97-AF65-F5344CB8AC3E}">
        <p14:creationId xmlns:p14="http://schemas.microsoft.com/office/powerpoint/2010/main" val="2897804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30000"/>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248E10-C484-34CE-F081-CEB05B0B22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2660" y="4709002"/>
            <a:ext cx="1304407" cy="1293591"/>
          </a:xfrm>
          <a:prstGeom prst="rect">
            <a:avLst/>
          </a:prstGeom>
        </p:spPr>
      </p:pic>
      <p:sp>
        <p:nvSpPr>
          <p:cNvPr id="5" name="TextBox 4">
            <a:extLst>
              <a:ext uri="{FF2B5EF4-FFF2-40B4-BE49-F238E27FC236}">
                <a16:creationId xmlns:a16="http://schemas.microsoft.com/office/drawing/2014/main" id="{49E2C5B0-50BF-DC12-51DC-988E76C1062D}"/>
              </a:ext>
            </a:extLst>
          </p:cNvPr>
          <p:cNvSpPr txBox="1"/>
          <p:nvPr/>
        </p:nvSpPr>
        <p:spPr>
          <a:xfrm>
            <a:off x="10097729" y="6002593"/>
            <a:ext cx="2094271" cy="923330"/>
          </a:xfrm>
          <a:prstGeom prst="rect">
            <a:avLst/>
          </a:prstGeom>
          <a:noFill/>
        </p:spPr>
        <p:txBody>
          <a:bodyPr wrap="square" rtlCol="0">
            <a:spAutoFit/>
          </a:bodyPr>
          <a:lstStyle/>
          <a:p>
            <a:pPr algn="ctr"/>
            <a:r>
              <a:rPr lang="en-US" dirty="0">
                <a:solidFill>
                  <a:schemeClr val="accent6">
                    <a:lumMod val="50000"/>
                  </a:schemeClr>
                </a:solidFill>
              </a:rPr>
              <a:t>Presented by </a:t>
            </a:r>
          </a:p>
          <a:p>
            <a:pPr algn="ctr"/>
            <a:r>
              <a:rPr lang="en-US" dirty="0">
                <a:solidFill>
                  <a:schemeClr val="accent6">
                    <a:lumMod val="50000"/>
                  </a:schemeClr>
                </a:solidFill>
              </a:rPr>
              <a:t>Ankur Katiyar</a:t>
            </a:r>
            <a:endParaRPr lang="en-IN" dirty="0">
              <a:solidFill>
                <a:schemeClr val="accent6">
                  <a:lumMod val="50000"/>
                </a:schemeClr>
              </a:solidFill>
            </a:endParaRPr>
          </a:p>
          <a:p>
            <a:pPr algn="ctr"/>
            <a:endParaRPr lang="en-IN" dirty="0">
              <a:solidFill>
                <a:schemeClr val="accent6">
                  <a:lumMod val="50000"/>
                </a:schemeClr>
              </a:solidFill>
            </a:endParaRPr>
          </a:p>
        </p:txBody>
      </p:sp>
    </p:spTree>
    <p:extLst>
      <p:ext uri="{BB962C8B-B14F-4D97-AF65-F5344CB8AC3E}">
        <p14:creationId xmlns:p14="http://schemas.microsoft.com/office/powerpoint/2010/main" val="178322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AD729A56-C75B-986D-9565-F4CF8B9B4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366FC-D5F0-D0DD-6FA1-DE50BB05F02E}"/>
              </a:ext>
            </a:extLst>
          </p:cNvPr>
          <p:cNvSpPr>
            <a:spLocks noGrp="1"/>
          </p:cNvSpPr>
          <p:nvPr>
            <p:ph type="title"/>
          </p:nvPr>
        </p:nvSpPr>
        <p:spPr/>
        <p:txBody>
          <a:bodyPr>
            <a:normAutofit/>
          </a:bodyPr>
          <a:lstStyle/>
          <a:p>
            <a:pPr algn="ctr"/>
            <a:r>
              <a:rPr lang="en-US" sz="3600" dirty="0">
                <a:latin typeface="Bahnschrift" panose="020B0502040204020203" pitchFamily="34" charset="0"/>
              </a:rPr>
              <a:t>Problem statement</a:t>
            </a:r>
            <a:endParaRPr lang="en-IN" sz="3600" dirty="0">
              <a:latin typeface="Bahnschrift" panose="020B0502040204020203" pitchFamily="34" charset="0"/>
            </a:endParaRPr>
          </a:p>
        </p:txBody>
      </p:sp>
      <p:sp>
        <p:nvSpPr>
          <p:cNvPr id="3" name="TextBox 2">
            <a:extLst>
              <a:ext uri="{FF2B5EF4-FFF2-40B4-BE49-F238E27FC236}">
                <a16:creationId xmlns:a16="http://schemas.microsoft.com/office/drawing/2014/main" id="{9D6C0BAB-1D2E-65F0-7A2C-AD1BE940E75D}"/>
              </a:ext>
            </a:extLst>
          </p:cNvPr>
          <p:cNvSpPr txBox="1"/>
          <p:nvPr/>
        </p:nvSpPr>
        <p:spPr>
          <a:xfrm>
            <a:off x="838201" y="1779639"/>
            <a:ext cx="10213257" cy="3139321"/>
          </a:xfrm>
          <a:prstGeom prst="rect">
            <a:avLst/>
          </a:prstGeom>
          <a:noFill/>
        </p:spPr>
        <p:txBody>
          <a:bodyPr wrap="square" rtlCol="0">
            <a:spAutoFit/>
          </a:bodyPr>
          <a:lstStyle/>
          <a:p>
            <a:r>
              <a:rPr lang="en-US" b="1" dirty="0" err="1"/>
              <a:t>QuickBite</a:t>
            </a:r>
            <a:r>
              <a:rPr lang="en-US" b="1" dirty="0"/>
              <a:t> Express</a:t>
            </a:r>
            <a:r>
              <a:rPr lang="en-US" dirty="0"/>
              <a:t> is a Bengaluru-based food-tech startup (founded in 2020) that connects customers with nearby restaurants and cloud kitchens.</a:t>
            </a:r>
          </a:p>
          <a:p>
            <a:r>
              <a:rPr lang="en-US" dirty="0" err="1"/>
              <a:t>QuickBite</a:t>
            </a:r>
            <a:r>
              <a:rPr lang="en-US" dirty="0"/>
              <a:t> Express operates in 8 different cities – Ahmedabad</a:t>
            </a:r>
            <a:r>
              <a:rPr lang="en-IN" dirty="0"/>
              <a:t>, Bengaluru, Chennai, Delhi, Hyderabad, Kolkata, </a:t>
            </a:r>
            <a:r>
              <a:rPr lang="en-IN" dirty="0">
                <a:latin typeface="Segoe UI" panose="020B0502040204020203" pitchFamily="34" charset="0"/>
                <a:cs typeface="Segoe UI" panose="020B0502040204020203" pitchFamily="34" charset="0"/>
              </a:rPr>
              <a:t>Mumbai</a:t>
            </a:r>
            <a:r>
              <a:rPr lang="en-IN" dirty="0"/>
              <a:t>, and Pune. The platform partners with local eateries and cloud kitchens to deliver a seamless food ordering experience.</a:t>
            </a:r>
          </a:p>
          <a:p>
            <a:endParaRPr lang="en-IN"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June 2025, </a:t>
            </a:r>
            <a:r>
              <a:rPr lang="en-US" dirty="0" err="1">
                <a:latin typeface="Segoe UI" panose="020B0502040204020203" pitchFamily="34" charset="0"/>
                <a:cs typeface="Segoe UI" panose="020B0502040204020203" pitchFamily="34" charset="0"/>
              </a:rPr>
              <a:t>QuickBite</a:t>
            </a:r>
            <a:r>
              <a:rPr lang="en-US" dirty="0">
                <a:latin typeface="Segoe UI" panose="020B0502040204020203" pitchFamily="34" charset="0"/>
                <a:cs typeface="Segoe UI" panose="020B0502040204020203" pitchFamily="34" charset="0"/>
              </a:rPr>
              <a:t> faced a major crisis. </a:t>
            </a:r>
            <a:r>
              <a:rPr lang="en-US" b="1" dirty="0">
                <a:latin typeface="Segoe UI" panose="020B0502040204020203" pitchFamily="34" charset="0"/>
                <a:cs typeface="Segoe UI" panose="020B0502040204020203" pitchFamily="34" charset="0"/>
              </a:rPr>
              <a:t>A viral social media </a:t>
            </a:r>
            <a:r>
              <a:rPr lang="en-US" dirty="0">
                <a:latin typeface="Segoe UI" panose="020B0502040204020203" pitchFamily="34" charset="0"/>
                <a:cs typeface="Segoe UI" panose="020B0502040204020203" pitchFamily="34" charset="0"/>
              </a:rPr>
              <a:t>incident involving food safety </a:t>
            </a:r>
            <a:r>
              <a:rPr lang="en-US" dirty="0" err="1">
                <a:latin typeface="Segoe UI" panose="020B0502040204020203" pitchFamily="34" charset="0"/>
                <a:cs typeface="Segoe UI" panose="020B0502040204020203" pitchFamily="34" charset="0"/>
              </a:rPr>
              <a:t>viInolations</a:t>
            </a:r>
            <a:r>
              <a:rPr lang="en-US" dirty="0">
                <a:latin typeface="Segoe UI" panose="020B0502040204020203" pitchFamily="34" charset="0"/>
                <a:cs typeface="Segoe UI" panose="020B0502040204020203" pitchFamily="34" charset="0"/>
              </a:rPr>
              <a:t> at partner restaurants, combined with a </a:t>
            </a:r>
            <a:r>
              <a:rPr lang="en-US" b="1" dirty="0">
                <a:latin typeface="Segoe UI" panose="020B0502040204020203" pitchFamily="34" charset="0"/>
                <a:cs typeface="Segoe UI" panose="020B0502040204020203" pitchFamily="34" charset="0"/>
              </a:rPr>
              <a:t>week-long delivery outage </a:t>
            </a:r>
            <a:r>
              <a:rPr lang="en-US" dirty="0">
                <a:latin typeface="Segoe UI" panose="020B0502040204020203" pitchFamily="34" charset="0"/>
                <a:cs typeface="Segoe UI" panose="020B0502040204020203" pitchFamily="34" charset="0"/>
              </a:rPr>
              <a:t>during the monsoon season, triggered massive customer backlash. Competitors capitalized with aggressive campaigns, worsening the situation.</a:t>
            </a:r>
          </a:p>
          <a:p>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64453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65000" b="-65000"/>
          </a:stretch>
        </a:blipFill>
        <a:effectLst/>
      </p:bgPr>
    </p:bg>
    <p:spTree>
      <p:nvGrpSpPr>
        <p:cNvPr id="1" name="">
          <a:extLst>
            <a:ext uri="{FF2B5EF4-FFF2-40B4-BE49-F238E27FC236}">
              <a16:creationId xmlns:a16="http://schemas.microsoft.com/office/drawing/2014/main" id="{69615D20-F303-F046-E652-B1E4AB57E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D1778-FB75-C4AA-6B3C-175AC2547905}"/>
              </a:ext>
            </a:extLst>
          </p:cNvPr>
          <p:cNvSpPr>
            <a:spLocks noGrp="1"/>
          </p:cNvSpPr>
          <p:nvPr>
            <p:ph type="title"/>
          </p:nvPr>
        </p:nvSpPr>
        <p:spPr>
          <a:xfrm>
            <a:off x="838200" y="196645"/>
            <a:ext cx="10515600" cy="537815"/>
          </a:xfrm>
        </p:spPr>
        <p:txBody>
          <a:bodyPr>
            <a:noAutofit/>
          </a:bodyPr>
          <a:lstStyle/>
          <a:p>
            <a:pPr algn="ctr"/>
            <a:r>
              <a:rPr lang="en-IN" sz="3600" dirty="0">
                <a:latin typeface="Bahnschrift" panose="020B0502040204020203" pitchFamily="34" charset="0"/>
              </a:rPr>
              <a:t>Monthly Orders Trend</a:t>
            </a:r>
          </a:p>
        </p:txBody>
      </p:sp>
      <p:sp>
        <p:nvSpPr>
          <p:cNvPr id="3" name="TextBox 2">
            <a:extLst>
              <a:ext uri="{FF2B5EF4-FFF2-40B4-BE49-F238E27FC236}">
                <a16:creationId xmlns:a16="http://schemas.microsoft.com/office/drawing/2014/main" id="{728AD811-7608-DEBB-232A-67C5F4CFC257}"/>
              </a:ext>
            </a:extLst>
          </p:cNvPr>
          <p:cNvSpPr txBox="1"/>
          <p:nvPr/>
        </p:nvSpPr>
        <p:spPr>
          <a:xfrm>
            <a:off x="838200" y="734461"/>
            <a:ext cx="10213259" cy="646331"/>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Q1. Monthly Orders: Compare total orders across pre-crisis (Jan–May 2025) vs crisis (Jun–Sep 2025). How severe is the decline?</a:t>
            </a:r>
            <a:endParaRPr lang="en-IN"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7CB1359F-9BD8-3284-CF83-A1F712C73E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488818"/>
            <a:ext cx="5745613" cy="2906201"/>
          </a:xfrm>
          <a:prstGeom prst="rect">
            <a:avLst/>
          </a:prstGeom>
        </p:spPr>
      </p:pic>
      <p:sp>
        <p:nvSpPr>
          <p:cNvPr id="6" name="TextBox 5">
            <a:extLst>
              <a:ext uri="{FF2B5EF4-FFF2-40B4-BE49-F238E27FC236}">
                <a16:creationId xmlns:a16="http://schemas.microsoft.com/office/drawing/2014/main" id="{7C23DF1E-4468-E1F3-88B5-609CA4203C59}"/>
              </a:ext>
            </a:extLst>
          </p:cNvPr>
          <p:cNvSpPr txBox="1"/>
          <p:nvPr/>
        </p:nvSpPr>
        <p:spPr>
          <a:xfrm>
            <a:off x="838200" y="4503045"/>
            <a:ext cx="10783529" cy="2031325"/>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Insights: </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Orders dropped by </a:t>
            </a:r>
            <a:r>
              <a:rPr lang="en-US" b="1" dirty="0">
                <a:latin typeface="Segoe UI" panose="020B0502040204020203" pitchFamily="34" charset="0"/>
                <a:cs typeface="Segoe UI" panose="020B0502040204020203" pitchFamily="34" charset="0"/>
              </a:rPr>
              <a:t>69%</a:t>
            </a:r>
            <a:r>
              <a:rPr lang="en-US" dirty="0">
                <a:latin typeface="Segoe UI" panose="020B0502040204020203" pitchFamily="34" charset="0"/>
                <a:cs typeface="Segoe UI" panose="020B0502040204020203" pitchFamily="34" charset="0"/>
              </a:rPr>
              <a:t> from pre-crisis to crisis. Volume declined sharply after May, stabilizing at 9K monthly orders by June–September indicating a persistent slump rather than temporary volatility.</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This decline impacts revenue, brand visibility, and restaurant retention simultaneously.</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Recommendation :</a:t>
            </a:r>
          </a:p>
          <a:p>
            <a:r>
              <a:rPr lang="en-US" dirty="0">
                <a:latin typeface="Segoe UI" panose="020B0502040204020203" pitchFamily="34" charset="0"/>
                <a:cs typeface="Segoe UI" panose="020B0502040204020203" pitchFamily="34" charset="0"/>
              </a:rPr>
              <a:t>Develop and launch a targeted recovery plan focused on re-engaging loyal customers.</a:t>
            </a:r>
          </a:p>
        </p:txBody>
      </p:sp>
      <p:pic>
        <p:nvPicPr>
          <p:cNvPr id="7" name="Picture 6">
            <a:extLst>
              <a:ext uri="{FF2B5EF4-FFF2-40B4-BE49-F238E27FC236}">
                <a16:creationId xmlns:a16="http://schemas.microsoft.com/office/drawing/2014/main" id="{A3D26817-5643-F221-AF54-DED9996A66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63757" y="1996207"/>
            <a:ext cx="1957972" cy="1064115"/>
          </a:xfrm>
          <a:prstGeom prst="rect">
            <a:avLst/>
          </a:prstGeom>
        </p:spPr>
      </p:pic>
      <p:pic>
        <p:nvPicPr>
          <p:cNvPr id="9" name="Picture 8">
            <a:extLst>
              <a:ext uri="{FF2B5EF4-FFF2-40B4-BE49-F238E27FC236}">
                <a16:creationId xmlns:a16="http://schemas.microsoft.com/office/drawing/2014/main" id="{28B4E3F1-FD8C-68AA-76FA-FE0A6BEA08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52835" y="1964252"/>
            <a:ext cx="2110518" cy="1096070"/>
          </a:xfrm>
          <a:prstGeom prst="rect">
            <a:avLst/>
          </a:prstGeom>
        </p:spPr>
      </p:pic>
    </p:spTree>
    <p:extLst>
      <p:ext uri="{BB962C8B-B14F-4D97-AF65-F5344CB8AC3E}">
        <p14:creationId xmlns:p14="http://schemas.microsoft.com/office/powerpoint/2010/main" val="4090527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933D23BF-0D61-CCF4-11BA-92FE05F34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B3162-902C-68EE-21D4-42317FAB127B}"/>
              </a:ext>
            </a:extLst>
          </p:cNvPr>
          <p:cNvSpPr>
            <a:spLocks noGrp="1"/>
          </p:cNvSpPr>
          <p:nvPr>
            <p:ph type="title"/>
          </p:nvPr>
        </p:nvSpPr>
        <p:spPr>
          <a:xfrm>
            <a:off x="838200" y="216310"/>
            <a:ext cx="10515600" cy="540774"/>
          </a:xfrm>
        </p:spPr>
        <p:txBody>
          <a:bodyPr>
            <a:noAutofit/>
          </a:bodyPr>
          <a:lstStyle/>
          <a:p>
            <a:pPr algn="ctr"/>
            <a:r>
              <a:rPr lang="en-IN" sz="3600" dirty="0">
                <a:latin typeface="Bahnschrift" panose="020B0502040204020203" pitchFamily="34" charset="0"/>
              </a:rPr>
              <a:t>City-wise Impact</a:t>
            </a:r>
          </a:p>
        </p:txBody>
      </p:sp>
      <p:sp>
        <p:nvSpPr>
          <p:cNvPr id="4" name="TextBox 3">
            <a:extLst>
              <a:ext uri="{FF2B5EF4-FFF2-40B4-BE49-F238E27FC236}">
                <a16:creationId xmlns:a16="http://schemas.microsoft.com/office/drawing/2014/main" id="{0C7954B9-11D5-B7A3-A592-296146D86D6F}"/>
              </a:ext>
            </a:extLst>
          </p:cNvPr>
          <p:cNvSpPr txBox="1"/>
          <p:nvPr/>
        </p:nvSpPr>
        <p:spPr>
          <a:xfrm>
            <a:off x="511278" y="688258"/>
            <a:ext cx="11120283" cy="646331"/>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Q2. </a:t>
            </a:r>
            <a:r>
              <a:rPr lang="en-US" dirty="0">
                <a:latin typeface="Segoe UI" panose="020B0502040204020203" pitchFamily="34" charset="0"/>
                <a:cs typeface="Segoe UI" panose="020B0502040204020203" pitchFamily="34" charset="0"/>
              </a:rPr>
              <a:t>Which </a:t>
            </a:r>
            <a:r>
              <a:rPr lang="en-US" b="1" dirty="0">
                <a:latin typeface="Segoe UI" panose="020B0502040204020203" pitchFamily="34" charset="0"/>
                <a:cs typeface="Segoe UI" panose="020B0502040204020203" pitchFamily="34" charset="0"/>
              </a:rPr>
              <a:t>top 5 city groups </a:t>
            </a:r>
            <a:r>
              <a:rPr lang="en-US" dirty="0">
                <a:latin typeface="Segoe UI" panose="020B0502040204020203" pitchFamily="34" charset="0"/>
                <a:cs typeface="Segoe UI" panose="020B0502040204020203" pitchFamily="34" charset="0"/>
              </a:rPr>
              <a:t>experienced the </a:t>
            </a:r>
            <a:r>
              <a:rPr lang="en-US" b="1" dirty="0">
                <a:latin typeface="Segoe UI" panose="020B0502040204020203" pitchFamily="34" charset="0"/>
                <a:cs typeface="Segoe UI" panose="020B0502040204020203" pitchFamily="34" charset="0"/>
              </a:rPr>
              <a:t>highest percentage decline in orders </a:t>
            </a:r>
            <a:r>
              <a:rPr lang="en-US" dirty="0">
                <a:latin typeface="Segoe UI" panose="020B0502040204020203" pitchFamily="34" charset="0"/>
                <a:cs typeface="Segoe UI" panose="020B0502040204020203" pitchFamily="34" charset="0"/>
              </a:rPr>
              <a:t>during the crisis period compared to the pre-crisis period? </a:t>
            </a:r>
          </a:p>
        </p:txBody>
      </p:sp>
      <p:pic>
        <p:nvPicPr>
          <p:cNvPr id="6" name="Picture 5">
            <a:extLst>
              <a:ext uri="{FF2B5EF4-FFF2-40B4-BE49-F238E27FC236}">
                <a16:creationId xmlns:a16="http://schemas.microsoft.com/office/drawing/2014/main" id="{639828EF-2E8C-3F5D-1A6F-C586A6A751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278" y="1334589"/>
            <a:ext cx="5131538" cy="3076032"/>
          </a:xfrm>
          <a:prstGeom prst="rect">
            <a:avLst/>
          </a:prstGeom>
        </p:spPr>
      </p:pic>
      <p:sp>
        <p:nvSpPr>
          <p:cNvPr id="3" name="TextBox 2">
            <a:extLst>
              <a:ext uri="{FF2B5EF4-FFF2-40B4-BE49-F238E27FC236}">
                <a16:creationId xmlns:a16="http://schemas.microsoft.com/office/drawing/2014/main" id="{44E0CEFC-E0EA-EFBB-A6F7-41E170145413}"/>
              </a:ext>
            </a:extLst>
          </p:cNvPr>
          <p:cNvSpPr txBox="1"/>
          <p:nvPr/>
        </p:nvSpPr>
        <p:spPr>
          <a:xfrm>
            <a:off x="511278" y="4493342"/>
            <a:ext cx="11326761" cy="2031325"/>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Insights:</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Bengaluru, Mumbai, and Ahmedabad were hardest hit, showing </a:t>
            </a:r>
            <a:r>
              <a:rPr lang="en-US" b="1" dirty="0">
                <a:latin typeface="Segoe UI" panose="020B0502040204020203" pitchFamily="34" charset="0"/>
                <a:cs typeface="Segoe UI" panose="020B0502040204020203" pitchFamily="34" charset="0"/>
              </a:rPr>
              <a:t>70% declines</a:t>
            </a:r>
            <a:r>
              <a:rPr lang="en-US" dirty="0">
                <a:latin typeface="Segoe UI" panose="020B0502040204020203" pitchFamily="34" charset="0"/>
                <a:cs typeface="Segoe UI" panose="020B0502040204020203" pitchFamily="34" charset="0"/>
              </a:rPr>
              <a:t>, while Delhi and Pune were relatively less affected.</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Across acquisition channels, </a:t>
            </a:r>
            <a:r>
              <a:rPr lang="en-US" b="1" dirty="0">
                <a:latin typeface="Segoe UI" panose="020B0502040204020203" pitchFamily="34" charset="0"/>
                <a:cs typeface="Segoe UI" panose="020B0502040204020203" pitchFamily="34" charset="0"/>
              </a:rPr>
              <a:t>Mumbai’s organic orders</a:t>
            </a:r>
            <a:r>
              <a:rPr lang="en-US" dirty="0">
                <a:latin typeface="Segoe UI" panose="020B0502040204020203" pitchFamily="34" charset="0"/>
                <a:cs typeface="Segoe UI" panose="020B0502040204020203" pitchFamily="34" charset="0"/>
              </a:rPr>
              <a:t> saw the sharpest fall (</a:t>
            </a:r>
            <a:r>
              <a:rPr lang="en-US" b="1" dirty="0">
                <a:latin typeface="Segoe UI" panose="020B0502040204020203" pitchFamily="34" charset="0"/>
                <a:cs typeface="Segoe UI" panose="020B0502040204020203" pitchFamily="34" charset="0"/>
              </a:rPr>
              <a:t>76.5%</a:t>
            </a:r>
            <a:r>
              <a:rPr lang="en-US" dirty="0">
                <a:latin typeface="Segoe UI" panose="020B0502040204020203" pitchFamily="34" charset="0"/>
                <a:cs typeface="Segoe UI" panose="020B0502040204020203" pitchFamily="34" charset="0"/>
              </a:rPr>
              <a:t>), signaling weakened customer recall and engagement.</a:t>
            </a:r>
          </a:p>
          <a:p>
            <a:r>
              <a:rPr lang="en-US" b="1" dirty="0">
                <a:latin typeface="Segoe UI" panose="020B0502040204020203" pitchFamily="34" charset="0"/>
                <a:cs typeface="Segoe UI" panose="020B0502040204020203" pitchFamily="34" charset="0"/>
              </a:rPr>
              <a:t>Recommendation:</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Implement a </a:t>
            </a:r>
            <a:r>
              <a:rPr lang="en-US" b="1" dirty="0">
                <a:latin typeface="Segoe UI" panose="020B0502040204020203" pitchFamily="34" charset="0"/>
                <a:cs typeface="Segoe UI" panose="020B0502040204020203" pitchFamily="34" charset="0"/>
              </a:rPr>
              <a:t>city-specific recovery plan</a:t>
            </a:r>
            <a:r>
              <a:rPr lang="en-US" dirty="0">
                <a:latin typeface="Segoe UI" panose="020B0502040204020203" pitchFamily="34" charset="0"/>
                <a:cs typeface="Segoe UI" panose="020B0502040204020203" pitchFamily="34" charset="0"/>
              </a:rPr>
              <a:t> focusing on high-decline regions. </a:t>
            </a:r>
            <a:endParaRPr lang="en-IN" dirty="0">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06C70E83-ADE9-BD4D-F9B0-4B3B02E047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3936" y="1334589"/>
            <a:ext cx="5914103" cy="3076032"/>
          </a:xfrm>
          <a:prstGeom prst="rect">
            <a:avLst/>
          </a:prstGeom>
        </p:spPr>
      </p:pic>
    </p:spTree>
    <p:extLst>
      <p:ext uri="{BB962C8B-B14F-4D97-AF65-F5344CB8AC3E}">
        <p14:creationId xmlns:p14="http://schemas.microsoft.com/office/powerpoint/2010/main" val="292511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6C20400E-5E14-08AB-45E1-11DCC3B57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BE3E6-3C65-0FA0-DEE8-9E89772E26F3}"/>
              </a:ext>
            </a:extLst>
          </p:cNvPr>
          <p:cNvSpPr>
            <a:spLocks noGrp="1"/>
          </p:cNvSpPr>
          <p:nvPr>
            <p:ph type="title"/>
          </p:nvPr>
        </p:nvSpPr>
        <p:spPr>
          <a:xfrm>
            <a:off x="838200" y="147484"/>
            <a:ext cx="10515600" cy="452284"/>
          </a:xfrm>
        </p:spPr>
        <p:txBody>
          <a:bodyPr>
            <a:noAutofit/>
          </a:bodyPr>
          <a:lstStyle/>
          <a:p>
            <a:pPr algn="ctr"/>
            <a:r>
              <a:rPr lang="en-IN" sz="3600" dirty="0">
                <a:latin typeface="Bahnschrift" panose="020B0502040204020203" pitchFamily="34" charset="0"/>
              </a:rPr>
              <a:t>High-Volume Restaurant Decline</a:t>
            </a:r>
          </a:p>
        </p:txBody>
      </p:sp>
      <p:sp>
        <p:nvSpPr>
          <p:cNvPr id="4" name="TextBox 3">
            <a:extLst>
              <a:ext uri="{FF2B5EF4-FFF2-40B4-BE49-F238E27FC236}">
                <a16:creationId xmlns:a16="http://schemas.microsoft.com/office/drawing/2014/main" id="{424E28AD-78EB-2682-AD3A-3B84F69D36F5}"/>
              </a:ext>
            </a:extLst>
          </p:cNvPr>
          <p:cNvSpPr txBox="1"/>
          <p:nvPr/>
        </p:nvSpPr>
        <p:spPr>
          <a:xfrm>
            <a:off x="462117" y="599768"/>
            <a:ext cx="11080954" cy="646331"/>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Q3. </a:t>
            </a:r>
            <a:r>
              <a:rPr lang="en-US" dirty="0">
                <a:latin typeface="Segoe UI" panose="020B0502040204020203" pitchFamily="34" charset="0"/>
                <a:cs typeface="Segoe UI" panose="020B0502040204020203" pitchFamily="34" charset="0"/>
              </a:rPr>
              <a:t>Among restaurants with at least </a:t>
            </a:r>
            <a:r>
              <a:rPr lang="en-US" b="1" dirty="0">
                <a:latin typeface="Segoe UI" panose="020B0502040204020203" pitchFamily="34" charset="0"/>
                <a:cs typeface="Segoe UI" panose="020B0502040204020203" pitchFamily="34" charset="0"/>
              </a:rPr>
              <a:t>50 </a:t>
            </a:r>
            <a:r>
              <a:rPr lang="en-US" dirty="0">
                <a:latin typeface="Segoe UI" panose="020B0502040204020203" pitchFamily="34" charset="0"/>
                <a:cs typeface="Segoe UI" panose="020B0502040204020203" pitchFamily="34" charset="0"/>
              </a:rPr>
              <a:t>pre-crisis orders, which </a:t>
            </a:r>
            <a:r>
              <a:rPr lang="en-US" b="1" dirty="0">
                <a:latin typeface="Segoe UI" panose="020B0502040204020203" pitchFamily="34" charset="0"/>
                <a:cs typeface="Segoe UI" panose="020B0502040204020203" pitchFamily="34" charset="0"/>
              </a:rPr>
              <a:t>top 10 </a:t>
            </a:r>
            <a:r>
              <a:rPr lang="en-US" dirty="0">
                <a:latin typeface="Segoe UI" panose="020B0502040204020203" pitchFamily="34" charset="0"/>
                <a:cs typeface="Segoe UI" panose="020B0502040204020203" pitchFamily="34" charset="0"/>
              </a:rPr>
              <a:t>high-volume restaurants experienced the </a:t>
            </a:r>
            <a:r>
              <a:rPr lang="en-US" b="1" dirty="0">
                <a:latin typeface="Segoe UI" panose="020B0502040204020203" pitchFamily="34" charset="0"/>
                <a:cs typeface="Segoe UI" panose="020B0502040204020203" pitchFamily="34" charset="0"/>
              </a:rPr>
              <a:t>largest percentage decline </a:t>
            </a:r>
            <a:r>
              <a:rPr lang="en-US" dirty="0">
                <a:latin typeface="Segoe UI" panose="020B0502040204020203" pitchFamily="34" charset="0"/>
                <a:cs typeface="Segoe UI" panose="020B0502040204020203" pitchFamily="34" charset="0"/>
              </a:rPr>
              <a:t>in order counts during the crisis period? </a:t>
            </a:r>
          </a:p>
        </p:txBody>
      </p:sp>
      <p:pic>
        <p:nvPicPr>
          <p:cNvPr id="5" name="Picture 4">
            <a:extLst>
              <a:ext uri="{FF2B5EF4-FFF2-40B4-BE49-F238E27FC236}">
                <a16:creationId xmlns:a16="http://schemas.microsoft.com/office/drawing/2014/main" id="{8E7A3187-5122-8D73-8C3D-5DFA03838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110" y="1246099"/>
            <a:ext cx="6715431" cy="3365230"/>
          </a:xfrm>
          <a:prstGeom prst="rect">
            <a:avLst/>
          </a:prstGeom>
        </p:spPr>
      </p:pic>
      <p:sp>
        <p:nvSpPr>
          <p:cNvPr id="6" name="TextBox 5">
            <a:extLst>
              <a:ext uri="{FF2B5EF4-FFF2-40B4-BE49-F238E27FC236}">
                <a16:creationId xmlns:a16="http://schemas.microsoft.com/office/drawing/2014/main" id="{F248353C-D64B-1F54-8EE5-C7CC4E3140F3}"/>
              </a:ext>
            </a:extLst>
          </p:cNvPr>
          <p:cNvSpPr txBox="1"/>
          <p:nvPr/>
        </p:nvSpPr>
        <p:spPr>
          <a:xfrm>
            <a:off x="521110" y="4611329"/>
            <a:ext cx="11021961" cy="2031325"/>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Top high-volume restaurants such as </a:t>
            </a:r>
            <a:r>
              <a:rPr lang="en-US" b="1" dirty="0">
                <a:latin typeface="Segoe UI" panose="020B0502040204020203" pitchFamily="34" charset="0"/>
                <a:cs typeface="Segoe UI" panose="020B0502040204020203" pitchFamily="34" charset="0"/>
              </a:rPr>
              <a:t>Royal Curry Mahal (-94%)</a:t>
            </a:r>
            <a:r>
              <a:rPr lang="en-US" dirty="0">
                <a:latin typeface="Segoe UI" panose="020B0502040204020203" pitchFamily="34" charset="0"/>
                <a:cs typeface="Segoe UI" panose="020B0502040204020203" pitchFamily="34" charset="0"/>
              </a:rPr>
              <a:t>, </a:t>
            </a:r>
            <a:r>
              <a:rPr lang="en-US" b="1" dirty="0">
                <a:latin typeface="Segoe UI" panose="020B0502040204020203" pitchFamily="34" charset="0"/>
                <a:cs typeface="Segoe UI" panose="020B0502040204020203" pitchFamily="34" charset="0"/>
              </a:rPr>
              <a:t>Taste of Cafe Corner (-92%)</a:t>
            </a:r>
            <a:r>
              <a:rPr lang="en-US" dirty="0">
                <a:latin typeface="Segoe UI" panose="020B0502040204020203" pitchFamily="34" charset="0"/>
                <a:cs typeface="Segoe UI" panose="020B0502040204020203" pitchFamily="34" charset="0"/>
              </a:rPr>
              <a:t>, and </a:t>
            </a:r>
            <a:r>
              <a:rPr lang="en-US" b="1" dirty="0">
                <a:latin typeface="Segoe UI" panose="020B0502040204020203" pitchFamily="34" charset="0"/>
                <a:cs typeface="Segoe UI" panose="020B0502040204020203" pitchFamily="34" charset="0"/>
              </a:rPr>
              <a:t>Fresh Tandoor Delight (-90.7%)</a:t>
            </a:r>
            <a:r>
              <a:rPr lang="en-US" dirty="0">
                <a:latin typeface="Segoe UI" panose="020B0502040204020203" pitchFamily="34" charset="0"/>
                <a:cs typeface="Segoe UI" panose="020B0502040204020203" pitchFamily="34" charset="0"/>
              </a:rPr>
              <a:t> saw the steepest order declines. The sharp drop among established partners indicates weakened restaurant confidence and possible operational disruptions post-crisis.</a:t>
            </a:r>
          </a:p>
          <a:p>
            <a:r>
              <a:rPr lang="en-US" b="1" dirty="0">
                <a:latin typeface="Segoe UI" panose="020B0502040204020203" pitchFamily="34" charset="0"/>
                <a:cs typeface="Segoe UI" panose="020B0502040204020203" pitchFamily="34" charset="0"/>
              </a:rPr>
              <a:t>Recommendation:</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Focus on </a:t>
            </a:r>
            <a:r>
              <a:rPr lang="en-US" b="1" dirty="0">
                <a:latin typeface="Segoe UI" panose="020B0502040204020203" pitchFamily="34" charset="0"/>
                <a:cs typeface="Segoe UI" panose="020B0502040204020203" pitchFamily="34" charset="0"/>
              </a:rPr>
              <a:t>retaining and re-engaging long-term restaurant partners</a:t>
            </a:r>
            <a:r>
              <a:rPr lang="en-US" dirty="0">
                <a:latin typeface="Segoe UI" panose="020B0502040204020203" pitchFamily="34" charset="0"/>
                <a:cs typeface="Segoe UI" panose="020B0502040204020203" pitchFamily="34" charset="0"/>
              </a:rPr>
              <a:t> through trust-building initiatives like </a:t>
            </a:r>
            <a:r>
              <a:rPr lang="en-US" b="1" dirty="0">
                <a:latin typeface="Segoe UI" panose="020B0502040204020203" pitchFamily="34" charset="0"/>
                <a:cs typeface="Segoe UI" panose="020B0502040204020203" pitchFamily="34" charset="0"/>
              </a:rPr>
              <a:t>reduced commission rates, marketing support, or loyalty incentives</a:t>
            </a:r>
            <a:r>
              <a:rPr lang="en-US" dirty="0">
                <a:latin typeface="Segoe UI" panose="020B0502040204020203" pitchFamily="34" charset="0"/>
                <a:cs typeface="Segoe UI" panose="020B0502040204020203" pitchFamily="34" charset="0"/>
              </a:rPr>
              <a:t>. </a:t>
            </a: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71894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96C35869-1B8B-19EF-59F7-3D69FC2ED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8D165-A2CF-6E95-A410-CEAA0AABEA7B}"/>
              </a:ext>
            </a:extLst>
          </p:cNvPr>
          <p:cNvSpPr>
            <a:spLocks noGrp="1"/>
          </p:cNvSpPr>
          <p:nvPr>
            <p:ph type="title"/>
          </p:nvPr>
        </p:nvSpPr>
        <p:spPr>
          <a:xfrm>
            <a:off x="838200" y="206477"/>
            <a:ext cx="10515600" cy="527981"/>
          </a:xfrm>
        </p:spPr>
        <p:txBody>
          <a:bodyPr>
            <a:noAutofit/>
          </a:bodyPr>
          <a:lstStyle/>
          <a:p>
            <a:pPr algn="ctr"/>
            <a:r>
              <a:rPr lang="en-IN" sz="3600" dirty="0">
                <a:latin typeface="Bahnschrift" panose="020B0502040204020203" pitchFamily="34" charset="0"/>
              </a:rPr>
              <a:t>Cancellation Trends</a:t>
            </a:r>
          </a:p>
        </p:txBody>
      </p:sp>
      <p:sp>
        <p:nvSpPr>
          <p:cNvPr id="4" name="TextBox 3">
            <a:extLst>
              <a:ext uri="{FF2B5EF4-FFF2-40B4-BE49-F238E27FC236}">
                <a16:creationId xmlns:a16="http://schemas.microsoft.com/office/drawing/2014/main" id="{364C6918-AE1D-620D-7FFC-1D07C344D30E}"/>
              </a:ext>
            </a:extLst>
          </p:cNvPr>
          <p:cNvSpPr txBox="1"/>
          <p:nvPr/>
        </p:nvSpPr>
        <p:spPr>
          <a:xfrm>
            <a:off x="462117" y="734458"/>
            <a:ext cx="11198941" cy="369332"/>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Q4. </a:t>
            </a:r>
            <a:r>
              <a:rPr lang="en-US" dirty="0">
                <a:latin typeface="Segoe UI" panose="020B0502040204020203" pitchFamily="34" charset="0"/>
                <a:cs typeface="Segoe UI" panose="020B0502040204020203" pitchFamily="34" charset="0"/>
              </a:rPr>
              <a:t>What is the cancellation rate trend pre-crisis vs crisis, and which cities are most affected? </a:t>
            </a:r>
          </a:p>
        </p:txBody>
      </p:sp>
      <p:pic>
        <p:nvPicPr>
          <p:cNvPr id="6" name="Picture 5">
            <a:extLst>
              <a:ext uri="{FF2B5EF4-FFF2-40B4-BE49-F238E27FC236}">
                <a16:creationId xmlns:a16="http://schemas.microsoft.com/office/drawing/2014/main" id="{6D317148-C305-690D-89FB-40BA962D5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761" y="1167457"/>
            <a:ext cx="5472891" cy="3053161"/>
          </a:xfrm>
          <a:prstGeom prst="rect">
            <a:avLst/>
          </a:prstGeom>
        </p:spPr>
      </p:pic>
      <p:pic>
        <p:nvPicPr>
          <p:cNvPr id="10" name="Picture 9">
            <a:extLst>
              <a:ext uri="{FF2B5EF4-FFF2-40B4-BE49-F238E27FC236}">
                <a16:creationId xmlns:a16="http://schemas.microsoft.com/office/drawing/2014/main" id="{86994166-26F3-D598-E650-E0BB6A65CE84}"/>
              </a:ext>
            </a:extLst>
          </p:cNvPr>
          <p:cNvPicPr>
            <a:picLocks noChangeAspect="1"/>
          </p:cNvPicPr>
          <p:nvPr/>
        </p:nvPicPr>
        <p:blipFill>
          <a:blip r:embed="rId4">
            <a:extLst>
              <a:ext uri="{28A0092B-C50C-407E-A947-70E740481C1C}">
                <a14:useLocalDpi xmlns:a14="http://schemas.microsoft.com/office/drawing/2010/main" val="0"/>
              </a:ext>
            </a:extLst>
          </a:blip>
          <a:srcRect b="34716"/>
          <a:stretch>
            <a:fillRect/>
          </a:stretch>
        </p:blipFill>
        <p:spPr>
          <a:xfrm>
            <a:off x="6553826" y="1691263"/>
            <a:ext cx="1762371" cy="609485"/>
          </a:xfrm>
          <a:prstGeom prst="rect">
            <a:avLst/>
          </a:prstGeom>
        </p:spPr>
      </p:pic>
      <p:pic>
        <p:nvPicPr>
          <p:cNvPr id="12" name="Picture 11">
            <a:extLst>
              <a:ext uri="{FF2B5EF4-FFF2-40B4-BE49-F238E27FC236}">
                <a16:creationId xmlns:a16="http://schemas.microsoft.com/office/drawing/2014/main" id="{082ECE6D-3214-9E03-C01A-9A1731F5C2C5}"/>
              </a:ext>
            </a:extLst>
          </p:cNvPr>
          <p:cNvPicPr>
            <a:picLocks noChangeAspect="1"/>
          </p:cNvPicPr>
          <p:nvPr/>
        </p:nvPicPr>
        <p:blipFill>
          <a:blip r:embed="rId5">
            <a:extLst>
              <a:ext uri="{28A0092B-C50C-407E-A947-70E740481C1C}">
                <a14:useLocalDpi xmlns:a14="http://schemas.microsoft.com/office/drawing/2010/main" val="0"/>
              </a:ext>
            </a:extLst>
          </a:blip>
          <a:srcRect b="30768"/>
          <a:stretch>
            <a:fillRect/>
          </a:stretch>
        </p:blipFill>
        <p:spPr>
          <a:xfrm>
            <a:off x="9279405" y="1691263"/>
            <a:ext cx="1762371" cy="609485"/>
          </a:xfrm>
          <a:prstGeom prst="rect">
            <a:avLst/>
          </a:prstGeom>
        </p:spPr>
      </p:pic>
      <p:sp>
        <p:nvSpPr>
          <p:cNvPr id="7" name="TextBox 6">
            <a:extLst>
              <a:ext uri="{FF2B5EF4-FFF2-40B4-BE49-F238E27FC236}">
                <a16:creationId xmlns:a16="http://schemas.microsoft.com/office/drawing/2014/main" id="{A8D4B6B9-2AE6-71FD-16C7-961986A0A186}"/>
              </a:ext>
            </a:extLst>
          </p:cNvPr>
          <p:cNvSpPr txBox="1"/>
          <p:nvPr/>
        </p:nvSpPr>
        <p:spPr>
          <a:xfrm>
            <a:off x="6553826" y="2694038"/>
            <a:ext cx="1762371" cy="646331"/>
          </a:xfrm>
          <a:prstGeom prst="rect">
            <a:avLst/>
          </a:prstGeom>
          <a:noFill/>
        </p:spPr>
        <p:txBody>
          <a:bodyPr wrap="square" rtlCol="0">
            <a:spAutoFit/>
          </a:bodyPr>
          <a:lstStyle/>
          <a:p>
            <a:r>
              <a:rPr lang="en-US" dirty="0"/>
              <a:t>Pre-crisis Cancellation rate</a:t>
            </a:r>
            <a:endParaRPr lang="en-IN" dirty="0"/>
          </a:p>
        </p:txBody>
      </p:sp>
      <p:sp>
        <p:nvSpPr>
          <p:cNvPr id="8" name="TextBox 7">
            <a:extLst>
              <a:ext uri="{FF2B5EF4-FFF2-40B4-BE49-F238E27FC236}">
                <a16:creationId xmlns:a16="http://schemas.microsoft.com/office/drawing/2014/main" id="{5F351CB7-3A65-DC3E-6544-1DF5FB929109}"/>
              </a:ext>
            </a:extLst>
          </p:cNvPr>
          <p:cNvSpPr txBox="1"/>
          <p:nvPr/>
        </p:nvSpPr>
        <p:spPr>
          <a:xfrm>
            <a:off x="9431805" y="2659627"/>
            <a:ext cx="1762371" cy="646331"/>
          </a:xfrm>
          <a:prstGeom prst="rect">
            <a:avLst/>
          </a:prstGeom>
          <a:noFill/>
        </p:spPr>
        <p:txBody>
          <a:bodyPr wrap="square" rtlCol="0">
            <a:spAutoFit/>
          </a:bodyPr>
          <a:lstStyle/>
          <a:p>
            <a:r>
              <a:rPr lang="en-US" dirty="0"/>
              <a:t>Crisis Cancellation rate</a:t>
            </a:r>
            <a:endParaRPr lang="en-IN" dirty="0"/>
          </a:p>
        </p:txBody>
      </p:sp>
      <p:sp>
        <p:nvSpPr>
          <p:cNvPr id="13" name="TextBox 12">
            <a:extLst>
              <a:ext uri="{FF2B5EF4-FFF2-40B4-BE49-F238E27FC236}">
                <a16:creationId xmlns:a16="http://schemas.microsoft.com/office/drawing/2014/main" id="{7E31B83A-E068-263C-C3E7-0D4CD07BF92D}"/>
              </a:ext>
            </a:extLst>
          </p:cNvPr>
          <p:cNvSpPr txBox="1"/>
          <p:nvPr/>
        </p:nvSpPr>
        <p:spPr>
          <a:xfrm>
            <a:off x="747761" y="4414684"/>
            <a:ext cx="11090278" cy="2031325"/>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Insights:</a:t>
            </a:r>
          </a:p>
          <a:p>
            <a:r>
              <a:rPr lang="en-US" dirty="0">
                <a:latin typeface="Segoe UI" panose="020B0502040204020203" pitchFamily="34" charset="0"/>
                <a:cs typeface="Segoe UI" panose="020B0502040204020203" pitchFamily="34" charset="0"/>
              </a:rPr>
              <a:t>Cancellation rates rose sharply during the crisis, climbing from </a:t>
            </a:r>
            <a:r>
              <a:rPr lang="en-US" b="1" dirty="0">
                <a:latin typeface="Segoe UI" panose="020B0502040204020203" pitchFamily="34" charset="0"/>
                <a:cs typeface="Segoe UI" panose="020B0502040204020203" pitchFamily="34" charset="0"/>
              </a:rPr>
              <a:t>6.1%</a:t>
            </a:r>
            <a:r>
              <a:rPr lang="en-US" dirty="0">
                <a:latin typeface="Segoe UI" panose="020B0502040204020203" pitchFamily="34" charset="0"/>
                <a:cs typeface="Segoe UI" panose="020B0502040204020203" pitchFamily="34" charset="0"/>
              </a:rPr>
              <a:t> in the pre-crisis period to </a:t>
            </a:r>
            <a:r>
              <a:rPr lang="en-US" b="1" dirty="0">
                <a:latin typeface="Segoe UI" panose="020B0502040204020203" pitchFamily="34" charset="0"/>
                <a:cs typeface="Segoe UI" panose="020B0502040204020203" pitchFamily="34" charset="0"/>
              </a:rPr>
              <a:t>11.9%</a:t>
            </a:r>
            <a:r>
              <a:rPr lang="en-US" dirty="0">
                <a:latin typeface="Segoe UI" panose="020B0502040204020203" pitchFamily="34" charset="0"/>
                <a:cs typeface="Segoe UI" panose="020B0502040204020203" pitchFamily="34" charset="0"/>
              </a:rPr>
              <a:t>. This surge reflects growing service reliability issues—likely tied to delivery delays or poor restaurant coordination. Rising cancellations erode </a:t>
            </a:r>
            <a:r>
              <a:rPr lang="en-US" b="1" dirty="0">
                <a:latin typeface="Segoe UI" panose="020B0502040204020203" pitchFamily="34" charset="0"/>
                <a:cs typeface="Segoe UI" panose="020B0502040204020203" pitchFamily="34" charset="0"/>
              </a:rPr>
              <a:t>customer trust</a:t>
            </a:r>
            <a:r>
              <a:rPr lang="en-US" dirty="0">
                <a:latin typeface="Segoe UI" panose="020B0502040204020203" pitchFamily="34" charset="0"/>
                <a:cs typeface="Segoe UI" panose="020B0502040204020203" pitchFamily="34" charset="0"/>
              </a:rPr>
              <a:t> and weaken </a:t>
            </a:r>
            <a:r>
              <a:rPr lang="en-US" b="1" dirty="0">
                <a:latin typeface="Segoe UI" panose="020B0502040204020203" pitchFamily="34" charset="0"/>
                <a:cs typeface="Segoe UI" panose="020B0502040204020203" pitchFamily="34" charset="0"/>
              </a:rPr>
              <a:t>restaurant confidence</a:t>
            </a:r>
            <a:r>
              <a:rPr lang="en-US" dirty="0">
                <a:latin typeface="Segoe UI" panose="020B0502040204020203" pitchFamily="34" charset="0"/>
                <a:cs typeface="Segoe UI" panose="020B0502040204020203" pitchFamily="34" charset="0"/>
              </a:rPr>
              <a:t> in the platform.</a:t>
            </a:r>
          </a:p>
          <a:p>
            <a:r>
              <a:rPr lang="en-US" b="1" dirty="0">
                <a:latin typeface="Segoe UI" panose="020B0502040204020203" pitchFamily="34" charset="0"/>
                <a:cs typeface="Segoe UI" panose="020B0502040204020203" pitchFamily="34" charset="0"/>
              </a:rPr>
              <a:t>Recommendations:</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Strengthen </a:t>
            </a:r>
            <a:r>
              <a:rPr lang="en-US" b="1" dirty="0">
                <a:latin typeface="Segoe UI" panose="020B0502040204020203" pitchFamily="34" charset="0"/>
                <a:cs typeface="Segoe UI" panose="020B0502040204020203" pitchFamily="34" charset="0"/>
              </a:rPr>
              <a:t>real-time order tracking</a:t>
            </a:r>
            <a:r>
              <a:rPr lang="en-US" dirty="0">
                <a:latin typeface="Segoe UI" panose="020B0502040204020203" pitchFamily="34" charset="0"/>
                <a:cs typeface="Segoe UI" panose="020B0502040204020203" pitchFamily="34" charset="0"/>
              </a:rPr>
              <a:t> and restaurant communication to prevent last-minute cancellations.</a:t>
            </a:r>
          </a:p>
          <a:p>
            <a:r>
              <a:rPr lang="en-US" dirty="0">
                <a:latin typeface="Segoe UI" panose="020B0502040204020203" pitchFamily="34" charset="0"/>
                <a:cs typeface="Segoe UI" panose="020B0502040204020203" pitchFamily="34" charset="0"/>
              </a:rPr>
              <a:t>Integrate </a:t>
            </a:r>
            <a:r>
              <a:rPr lang="en-US" b="1" dirty="0">
                <a:latin typeface="Segoe UI" panose="020B0502040204020203" pitchFamily="34" charset="0"/>
                <a:cs typeface="Segoe UI" panose="020B0502040204020203" pitchFamily="34" charset="0"/>
              </a:rPr>
              <a:t>customer feedback loops</a:t>
            </a:r>
            <a:r>
              <a:rPr lang="en-US" dirty="0">
                <a:latin typeface="Segoe UI" panose="020B0502040204020203" pitchFamily="34" charset="0"/>
                <a:cs typeface="Segoe UI" panose="020B0502040204020203" pitchFamily="34" charset="0"/>
              </a:rPr>
              <a:t> to address recurring complaints and improve satisfaction.</a:t>
            </a:r>
          </a:p>
        </p:txBody>
      </p:sp>
    </p:spTree>
    <p:extLst>
      <p:ext uri="{BB962C8B-B14F-4D97-AF65-F5344CB8AC3E}">
        <p14:creationId xmlns:p14="http://schemas.microsoft.com/office/powerpoint/2010/main" val="770174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D1BA080A-3397-7C80-F4D5-BBA94B4950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5CD57D-5DFB-4665-BA9C-13C4C41EB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050" y="447645"/>
            <a:ext cx="6634792" cy="3436098"/>
          </a:xfrm>
          <a:prstGeom prst="rect">
            <a:avLst/>
          </a:prstGeom>
        </p:spPr>
      </p:pic>
      <p:sp>
        <p:nvSpPr>
          <p:cNvPr id="4" name="TextBox 3">
            <a:extLst>
              <a:ext uri="{FF2B5EF4-FFF2-40B4-BE49-F238E27FC236}">
                <a16:creationId xmlns:a16="http://schemas.microsoft.com/office/drawing/2014/main" id="{A076EB33-4B22-B734-6CE1-0788C201553B}"/>
              </a:ext>
            </a:extLst>
          </p:cNvPr>
          <p:cNvSpPr txBox="1"/>
          <p:nvPr/>
        </p:nvSpPr>
        <p:spPr>
          <a:xfrm>
            <a:off x="912050" y="4178710"/>
            <a:ext cx="11089639" cy="646331"/>
          </a:xfrm>
          <a:prstGeom prst="rect">
            <a:avLst/>
          </a:prstGeom>
          <a:noFill/>
        </p:spPr>
        <p:txBody>
          <a:bodyPr wrap="none" rtlCol="0">
            <a:spAutoFit/>
          </a:bodyPr>
          <a:lstStyle/>
          <a:p>
            <a:r>
              <a:rPr lang="en-US" b="1" dirty="0">
                <a:latin typeface="Segoe UI" panose="020B0502040204020203" pitchFamily="34" charset="0"/>
                <a:cs typeface="Segoe UI" panose="020B0502040204020203" pitchFamily="34" charset="0"/>
              </a:rPr>
              <a:t>Insights:</a:t>
            </a:r>
          </a:p>
          <a:p>
            <a:r>
              <a:rPr lang="en-US" b="1" dirty="0">
                <a:latin typeface="Segoe UI" panose="020B0502040204020203" pitchFamily="34" charset="0"/>
                <a:cs typeface="Segoe UI" panose="020B0502040204020203" pitchFamily="34" charset="0"/>
              </a:rPr>
              <a:t>Bengaluru </a:t>
            </a:r>
            <a:r>
              <a:rPr lang="en-US" dirty="0">
                <a:latin typeface="Segoe UI" panose="020B0502040204020203" pitchFamily="34" charset="0"/>
                <a:cs typeface="Segoe UI" panose="020B0502040204020203" pitchFamily="34" charset="0"/>
              </a:rPr>
              <a:t>has highest cancellation rate followed by Kolkata, Chennai and Mumbai during the Crisis period.</a:t>
            </a:r>
            <a:endParaRPr lang="en-IN"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9144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122FB41A-EE0F-A3D3-6CD0-B0A751EC8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00E4A-B0FC-F4A7-B58D-A1B6668E9749}"/>
              </a:ext>
            </a:extLst>
          </p:cNvPr>
          <p:cNvSpPr>
            <a:spLocks noGrp="1"/>
          </p:cNvSpPr>
          <p:nvPr>
            <p:ph type="title"/>
          </p:nvPr>
        </p:nvSpPr>
        <p:spPr>
          <a:xfrm>
            <a:off x="838200" y="365126"/>
            <a:ext cx="10515600" cy="568940"/>
          </a:xfrm>
        </p:spPr>
        <p:txBody>
          <a:bodyPr>
            <a:noAutofit/>
          </a:bodyPr>
          <a:lstStyle/>
          <a:p>
            <a:pPr algn="ctr"/>
            <a:r>
              <a:rPr lang="en-IN" sz="3600" dirty="0">
                <a:latin typeface="Bahnschrift" panose="020B0502040204020203" pitchFamily="34" charset="0"/>
              </a:rPr>
              <a:t>Delivery SLA</a:t>
            </a:r>
          </a:p>
        </p:txBody>
      </p:sp>
      <p:sp>
        <p:nvSpPr>
          <p:cNvPr id="4" name="TextBox 3">
            <a:extLst>
              <a:ext uri="{FF2B5EF4-FFF2-40B4-BE49-F238E27FC236}">
                <a16:creationId xmlns:a16="http://schemas.microsoft.com/office/drawing/2014/main" id="{D5BD0A8E-3FA7-1115-D93B-9ED7510E4DB5}"/>
              </a:ext>
            </a:extLst>
          </p:cNvPr>
          <p:cNvSpPr txBox="1"/>
          <p:nvPr/>
        </p:nvSpPr>
        <p:spPr>
          <a:xfrm>
            <a:off x="462117" y="1170040"/>
            <a:ext cx="11208774" cy="923330"/>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Q5. </a:t>
            </a:r>
            <a:r>
              <a:rPr lang="en-US" dirty="0">
                <a:latin typeface="Segoe UI" panose="020B0502040204020203" pitchFamily="34" charset="0"/>
                <a:cs typeface="Segoe UI" panose="020B0502040204020203" pitchFamily="34" charset="0"/>
              </a:rPr>
              <a:t>Measure average delivery time across phases. Did SLA compliance worsen significantly in the crisis period? </a:t>
            </a:r>
          </a:p>
          <a:p>
            <a:endParaRPr lang="en-US"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38A426EF-8F5B-8786-937D-1E3CCD930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045" y="1935809"/>
            <a:ext cx="4191585" cy="1000265"/>
          </a:xfrm>
          <a:prstGeom prst="rect">
            <a:avLst/>
          </a:prstGeom>
        </p:spPr>
      </p:pic>
      <p:pic>
        <p:nvPicPr>
          <p:cNvPr id="7" name="Picture 6">
            <a:extLst>
              <a:ext uri="{FF2B5EF4-FFF2-40B4-BE49-F238E27FC236}">
                <a16:creationId xmlns:a16="http://schemas.microsoft.com/office/drawing/2014/main" id="{16C2CD8D-73AB-8B6B-F0E0-9D56B735FE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2963" y="1935809"/>
            <a:ext cx="4153480" cy="1038370"/>
          </a:xfrm>
          <a:prstGeom prst="rect">
            <a:avLst/>
          </a:prstGeom>
        </p:spPr>
      </p:pic>
      <p:sp>
        <p:nvSpPr>
          <p:cNvPr id="8" name="TextBox 7">
            <a:extLst>
              <a:ext uri="{FF2B5EF4-FFF2-40B4-BE49-F238E27FC236}">
                <a16:creationId xmlns:a16="http://schemas.microsoft.com/office/drawing/2014/main" id="{20B8D6FD-4E80-5DEE-421E-373165EB4889}"/>
              </a:ext>
            </a:extLst>
          </p:cNvPr>
          <p:cNvSpPr txBox="1"/>
          <p:nvPr/>
        </p:nvSpPr>
        <p:spPr>
          <a:xfrm>
            <a:off x="730044" y="3244645"/>
            <a:ext cx="4191585" cy="369332"/>
          </a:xfrm>
          <a:prstGeom prst="rect">
            <a:avLst/>
          </a:prstGeom>
          <a:noFill/>
        </p:spPr>
        <p:txBody>
          <a:bodyPr wrap="square" rtlCol="0">
            <a:spAutoFit/>
          </a:bodyPr>
          <a:lstStyle/>
          <a:p>
            <a:pPr algn="ctr"/>
            <a:r>
              <a:rPr lang="en-US" dirty="0"/>
              <a:t>Pre-crisis </a:t>
            </a:r>
            <a:endParaRPr lang="en-IN" dirty="0"/>
          </a:p>
        </p:txBody>
      </p:sp>
      <p:sp>
        <p:nvSpPr>
          <p:cNvPr id="9" name="TextBox 8">
            <a:extLst>
              <a:ext uri="{FF2B5EF4-FFF2-40B4-BE49-F238E27FC236}">
                <a16:creationId xmlns:a16="http://schemas.microsoft.com/office/drawing/2014/main" id="{76BD61E3-1859-71FB-90D4-0D1E031BF0C3}"/>
              </a:ext>
            </a:extLst>
          </p:cNvPr>
          <p:cNvSpPr txBox="1"/>
          <p:nvPr/>
        </p:nvSpPr>
        <p:spPr>
          <a:xfrm>
            <a:off x="6732962" y="3244645"/>
            <a:ext cx="4153479" cy="369332"/>
          </a:xfrm>
          <a:prstGeom prst="rect">
            <a:avLst/>
          </a:prstGeom>
          <a:noFill/>
        </p:spPr>
        <p:txBody>
          <a:bodyPr wrap="square" rtlCol="0">
            <a:spAutoFit/>
          </a:bodyPr>
          <a:lstStyle/>
          <a:p>
            <a:pPr algn="ctr"/>
            <a:r>
              <a:rPr lang="en-US" dirty="0"/>
              <a:t>Crisis</a:t>
            </a:r>
            <a:endParaRPr lang="en-IN" dirty="0"/>
          </a:p>
        </p:txBody>
      </p:sp>
      <p:sp>
        <p:nvSpPr>
          <p:cNvPr id="10" name="TextBox 9">
            <a:extLst>
              <a:ext uri="{FF2B5EF4-FFF2-40B4-BE49-F238E27FC236}">
                <a16:creationId xmlns:a16="http://schemas.microsoft.com/office/drawing/2014/main" id="{8D016B21-46DD-FEDF-26D3-14043FD3C7C4}"/>
              </a:ext>
            </a:extLst>
          </p:cNvPr>
          <p:cNvSpPr txBox="1"/>
          <p:nvPr/>
        </p:nvSpPr>
        <p:spPr>
          <a:xfrm>
            <a:off x="730044" y="3913239"/>
            <a:ext cx="11608114" cy="2031325"/>
          </a:xfrm>
          <a:prstGeom prst="rect">
            <a:avLst/>
          </a:prstGeom>
          <a:noFill/>
        </p:spPr>
        <p:txBody>
          <a:bodyPr wrap="none" rtlCol="0">
            <a:spAutoFit/>
          </a:bodyPr>
          <a:lstStyle/>
          <a:p>
            <a:r>
              <a:rPr lang="en-US" b="1" dirty="0">
                <a:latin typeface="Segoe UI" panose="020B0502040204020203" pitchFamily="34" charset="0"/>
                <a:cs typeface="Segoe UI" panose="020B0502040204020203" pitchFamily="34" charset="0"/>
              </a:rPr>
              <a:t>Insights:</a:t>
            </a:r>
          </a:p>
          <a:p>
            <a:r>
              <a:rPr lang="en-US" b="1" dirty="0">
                <a:latin typeface="Segoe UI" panose="020B0502040204020203" pitchFamily="34" charset="0"/>
                <a:cs typeface="Segoe UI" panose="020B0502040204020203" pitchFamily="34" charset="0"/>
              </a:rPr>
              <a:t>Average delivery time </a:t>
            </a:r>
            <a:r>
              <a:rPr lang="en-US" dirty="0">
                <a:latin typeface="Segoe UI" panose="020B0502040204020203" pitchFamily="34" charset="0"/>
                <a:cs typeface="Segoe UI" panose="020B0502040204020203" pitchFamily="34" charset="0"/>
              </a:rPr>
              <a:t>has increased from 39.5 mins to 60 min. </a:t>
            </a:r>
          </a:p>
          <a:p>
            <a:r>
              <a:rPr lang="en-US" b="1" dirty="0">
                <a:latin typeface="Segoe UI" panose="020B0502040204020203" pitchFamily="34" charset="0"/>
                <a:cs typeface="Segoe UI" panose="020B0502040204020203" pitchFamily="34" charset="0"/>
              </a:rPr>
              <a:t>SLA rate </a:t>
            </a:r>
            <a:r>
              <a:rPr lang="en-US" dirty="0">
                <a:latin typeface="Segoe UI" panose="020B0502040204020203" pitchFamily="34" charset="0"/>
                <a:cs typeface="Segoe UI" panose="020B0502040204020203" pitchFamily="34" charset="0"/>
              </a:rPr>
              <a:t>has worsened from 43.6 % to 12.2 % indicating that most deliveries failed to meet promised timelines. </a:t>
            </a:r>
          </a:p>
          <a:p>
            <a:r>
              <a:rPr lang="en-US" b="1" dirty="0">
                <a:latin typeface="Segoe UI" panose="020B0502040204020203" pitchFamily="34" charset="0"/>
                <a:cs typeface="Segoe UI" panose="020B0502040204020203" pitchFamily="34" charset="0"/>
              </a:rPr>
              <a:t>Recommendations:</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Reassess </a:t>
            </a:r>
            <a:r>
              <a:rPr lang="en-US" b="1" dirty="0">
                <a:latin typeface="Segoe UI" panose="020B0502040204020203" pitchFamily="34" charset="0"/>
                <a:cs typeface="Segoe UI" panose="020B0502040204020203" pitchFamily="34" charset="0"/>
              </a:rPr>
              <a:t>delivery partner </a:t>
            </a:r>
            <a:r>
              <a:rPr lang="en-US" dirty="0">
                <a:latin typeface="Segoe UI" panose="020B0502040204020203" pitchFamily="34" charset="0"/>
                <a:cs typeface="Segoe UI" panose="020B0502040204020203" pitchFamily="34" charset="0"/>
              </a:rPr>
              <a:t>allocation and route optimization, especially in high-traffic or weather-affected zones.</a:t>
            </a:r>
          </a:p>
          <a:p>
            <a:r>
              <a:rPr lang="en-US" dirty="0">
                <a:latin typeface="Segoe UI" panose="020B0502040204020203" pitchFamily="34" charset="0"/>
                <a:cs typeface="Segoe UI" panose="020B0502040204020203" pitchFamily="34" charset="0"/>
              </a:rPr>
              <a:t>Introduce </a:t>
            </a:r>
            <a:r>
              <a:rPr lang="en-US" b="1" dirty="0">
                <a:latin typeface="Segoe UI" panose="020B0502040204020203" pitchFamily="34" charset="0"/>
                <a:cs typeface="Segoe UI" panose="020B0502040204020203" pitchFamily="34" charset="0"/>
              </a:rPr>
              <a:t>SLA </a:t>
            </a:r>
            <a:r>
              <a:rPr lang="en-US" dirty="0">
                <a:latin typeface="Segoe UI" panose="020B0502040204020203" pitchFamily="34" charset="0"/>
                <a:cs typeface="Segoe UI" panose="020B0502040204020203" pitchFamily="34" charset="0"/>
              </a:rPr>
              <a:t>monitoring to flag delays in real time.</a:t>
            </a:r>
          </a:p>
          <a:p>
            <a:r>
              <a:rPr lang="en-US" dirty="0">
                <a:latin typeface="Segoe UI" panose="020B0502040204020203" pitchFamily="34" charset="0"/>
                <a:cs typeface="Segoe UI" panose="020B0502040204020203" pitchFamily="34" charset="0"/>
              </a:rPr>
              <a:t>Pilot priority delivery for high-value customers to rebuild reliability perception.</a:t>
            </a:r>
          </a:p>
        </p:txBody>
      </p:sp>
    </p:spTree>
    <p:extLst>
      <p:ext uri="{BB962C8B-B14F-4D97-AF65-F5344CB8AC3E}">
        <p14:creationId xmlns:p14="http://schemas.microsoft.com/office/powerpoint/2010/main" val="2072597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53D9C01D-712E-47ED-E027-294BCE0F8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236C2-EB0F-BF4A-2132-33594C8E05D6}"/>
              </a:ext>
            </a:extLst>
          </p:cNvPr>
          <p:cNvSpPr>
            <a:spLocks noGrp="1"/>
          </p:cNvSpPr>
          <p:nvPr>
            <p:ph type="title"/>
          </p:nvPr>
        </p:nvSpPr>
        <p:spPr>
          <a:xfrm>
            <a:off x="838200" y="365126"/>
            <a:ext cx="10515600" cy="568940"/>
          </a:xfrm>
        </p:spPr>
        <p:txBody>
          <a:bodyPr>
            <a:noAutofit/>
          </a:bodyPr>
          <a:lstStyle/>
          <a:p>
            <a:pPr algn="ctr"/>
            <a:r>
              <a:rPr lang="en-IN" sz="3600" dirty="0">
                <a:latin typeface="Bahnschrift" panose="020B0502040204020203" pitchFamily="34" charset="0"/>
              </a:rPr>
              <a:t>Customer Ratings</a:t>
            </a:r>
          </a:p>
        </p:txBody>
      </p:sp>
      <p:sp>
        <p:nvSpPr>
          <p:cNvPr id="4" name="TextBox 3">
            <a:extLst>
              <a:ext uri="{FF2B5EF4-FFF2-40B4-BE49-F238E27FC236}">
                <a16:creationId xmlns:a16="http://schemas.microsoft.com/office/drawing/2014/main" id="{894BB81E-BB9B-F368-BE8F-017CBB0A58C3}"/>
              </a:ext>
            </a:extLst>
          </p:cNvPr>
          <p:cNvSpPr txBox="1"/>
          <p:nvPr/>
        </p:nvSpPr>
        <p:spPr>
          <a:xfrm>
            <a:off x="462117" y="1170040"/>
            <a:ext cx="11208774" cy="369332"/>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Q6. </a:t>
            </a:r>
            <a:r>
              <a:rPr lang="en-US" dirty="0">
                <a:latin typeface="Segoe UI" panose="020B0502040204020203" pitchFamily="34" charset="0"/>
                <a:cs typeface="Segoe UI" panose="020B0502040204020203" pitchFamily="34" charset="0"/>
              </a:rPr>
              <a:t>Track average customer rating month-by-month. Which months saw the sharpest drop? </a:t>
            </a:r>
          </a:p>
        </p:txBody>
      </p:sp>
      <p:pic>
        <p:nvPicPr>
          <p:cNvPr id="5" name="Picture 4">
            <a:extLst>
              <a:ext uri="{FF2B5EF4-FFF2-40B4-BE49-F238E27FC236}">
                <a16:creationId xmlns:a16="http://schemas.microsoft.com/office/drawing/2014/main" id="{D58EE8EF-3563-9331-F1AC-27524A731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35891"/>
            <a:ext cx="5926394" cy="2940403"/>
          </a:xfrm>
          <a:prstGeom prst="rect">
            <a:avLst/>
          </a:prstGeom>
        </p:spPr>
      </p:pic>
      <p:sp>
        <p:nvSpPr>
          <p:cNvPr id="3" name="TextBox 2">
            <a:extLst>
              <a:ext uri="{FF2B5EF4-FFF2-40B4-BE49-F238E27FC236}">
                <a16:creationId xmlns:a16="http://schemas.microsoft.com/office/drawing/2014/main" id="{832595EE-44FB-2F97-43B7-045D68C25BE4}"/>
              </a:ext>
            </a:extLst>
          </p:cNvPr>
          <p:cNvSpPr txBox="1"/>
          <p:nvPr/>
        </p:nvSpPr>
        <p:spPr>
          <a:xfrm>
            <a:off x="462117" y="4576294"/>
            <a:ext cx="10970341" cy="1477328"/>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Insights:</a:t>
            </a:r>
          </a:p>
          <a:p>
            <a:r>
              <a:rPr lang="en-US" dirty="0">
                <a:latin typeface="Segoe UI" panose="020B0502040204020203" pitchFamily="34" charset="0"/>
                <a:cs typeface="Segoe UI" panose="020B0502040204020203" pitchFamily="34" charset="0"/>
              </a:rPr>
              <a:t>Ratings dropped from </a:t>
            </a:r>
            <a:r>
              <a:rPr lang="en-US" b="1" dirty="0">
                <a:latin typeface="Segoe UI" panose="020B0502040204020203" pitchFamily="34" charset="0"/>
                <a:cs typeface="Segoe UI" panose="020B0502040204020203" pitchFamily="34" charset="0"/>
              </a:rPr>
              <a:t>4.74 </a:t>
            </a:r>
            <a:r>
              <a:rPr lang="en-US" dirty="0">
                <a:latin typeface="Segoe UI" panose="020B0502040204020203" pitchFamily="34" charset="0"/>
                <a:cs typeface="Segoe UI" panose="020B0502040204020203" pitchFamily="34" charset="0"/>
              </a:rPr>
              <a:t>in March to </a:t>
            </a:r>
            <a:r>
              <a:rPr lang="en-US" b="1" dirty="0">
                <a:latin typeface="Segoe UI" panose="020B0502040204020203" pitchFamily="34" charset="0"/>
                <a:cs typeface="Segoe UI" panose="020B0502040204020203" pitchFamily="34" charset="0"/>
              </a:rPr>
              <a:t>2.58 </a:t>
            </a:r>
            <a:r>
              <a:rPr lang="en-US" dirty="0">
                <a:latin typeface="Segoe UI" panose="020B0502040204020203" pitchFamily="34" charset="0"/>
                <a:cs typeface="Segoe UI" panose="020B0502040204020203" pitchFamily="34" charset="0"/>
              </a:rPr>
              <a:t>by June, before stabilizing slightly in September reflecting a severe loss of confidence following the food safety incident and delivery disruptions.</a:t>
            </a:r>
          </a:p>
          <a:p>
            <a:r>
              <a:rPr lang="en-US" b="1" dirty="0">
                <a:latin typeface="Segoe UI" panose="020B0502040204020203" pitchFamily="34" charset="0"/>
                <a:cs typeface="Segoe UI" panose="020B0502040204020203" pitchFamily="34" charset="0"/>
              </a:rPr>
              <a:t>Recommendations:</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Launch a </a:t>
            </a:r>
            <a:r>
              <a:rPr lang="en-US" b="1" dirty="0">
                <a:latin typeface="Segoe UI" panose="020B0502040204020203" pitchFamily="34" charset="0"/>
                <a:cs typeface="Segoe UI" panose="020B0502040204020203" pitchFamily="34" charset="0"/>
              </a:rPr>
              <a:t>customer reassurance campaign</a:t>
            </a:r>
            <a:r>
              <a:rPr lang="en-US" dirty="0">
                <a:latin typeface="Segoe UI" panose="020B0502040204020203" pitchFamily="34" charset="0"/>
                <a:cs typeface="Segoe UI" panose="020B0502040204020203" pitchFamily="34" charset="0"/>
              </a:rPr>
              <a:t> highlighting improved safety protocols and delivery reliability.</a:t>
            </a:r>
          </a:p>
        </p:txBody>
      </p:sp>
    </p:spTree>
    <p:extLst>
      <p:ext uri="{BB962C8B-B14F-4D97-AF65-F5344CB8AC3E}">
        <p14:creationId xmlns:p14="http://schemas.microsoft.com/office/powerpoint/2010/main" val="1213976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45363C7F-A901-7FBA-F3BA-B6B87F72D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24E700-913D-E4C7-2AB3-265215E1E4DB}"/>
              </a:ext>
            </a:extLst>
          </p:cNvPr>
          <p:cNvSpPr>
            <a:spLocks noGrp="1"/>
          </p:cNvSpPr>
          <p:nvPr>
            <p:ph type="title"/>
          </p:nvPr>
        </p:nvSpPr>
        <p:spPr>
          <a:xfrm>
            <a:off x="838200" y="100484"/>
            <a:ext cx="10515600" cy="562707"/>
          </a:xfrm>
        </p:spPr>
        <p:txBody>
          <a:bodyPr>
            <a:noAutofit/>
          </a:bodyPr>
          <a:lstStyle/>
          <a:p>
            <a:pPr algn="ctr"/>
            <a:r>
              <a:rPr lang="en-IN" sz="3600" dirty="0">
                <a:latin typeface="Bahnschrift" panose="020B0502040204020203" pitchFamily="34" charset="0"/>
              </a:rPr>
              <a:t>Sentiment Analysis</a:t>
            </a:r>
          </a:p>
        </p:txBody>
      </p:sp>
      <p:sp>
        <p:nvSpPr>
          <p:cNvPr id="4" name="TextBox 3">
            <a:extLst>
              <a:ext uri="{FF2B5EF4-FFF2-40B4-BE49-F238E27FC236}">
                <a16:creationId xmlns:a16="http://schemas.microsoft.com/office/drawing/2014/main" id="{FCB8C4B6-DD83-78C4-F2D8-FD59E067C632}"/>
              </a:ext>
            </a:extLst>
          </p:cNvPr>
          <p:cNvSpPr txBox="1"/>
          <p:nvPr/>
        </p:nvSpPr>
        <p:spPr>
          <a:xfrm>
            <a:off x="532562" y="663191"/>
            <a:ext cx="11364683" cy="369332"/>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Q7. </a:t>
            </a:r>
            <a:r>
              <a:rPr lang="en-US" dirty="0">
                <a:latin typeface="Segoe UI" panose="020B0502040204020203" pitchFamily="34" charset="0"/>
                <a:cs typeface="Segoe UI" panose="020B0502040204020203" pitchFamily="34" charset="0"/>
              </a:rPr>
              <a:t>During the crisis period, identify the most frequently occurring negative keywords in customer review texts. </a:t>
            </a:r>
          </a:p>
        </p:txBody>
      </p:sp>
      <p:pic>
        <p:nvPicPr>
          <p:cNvPr id="5" name="Picture 4">
            <a:extLst>
              <a:ext uri="{FF2B5EF4-FFF2-40B4-BE49-F238E27FC236}">
                <a16:creationId xmlns:a16="http://schemas.microsoft.com/office/drawing/2014/main" id="{D06D14A8-53AA-C335-7DE1-997E4272C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539" y="1170040"/>
            <a:ext cx="5572903" cy="2953162"/>
          </a:xfrm>
          <a:prstGeom prst="rect">
            <a:avLst/>
          </a:prstGeom>
        </p:spPr>
      </p:pic>
      <p:sp>
        <p:nvSpPr>
          <p:cNvPr id="3" name="TextBox 2">
            <a:extLst>
              <a:ext uri="{FF2B5EF4-FFF2-40B4-BE49-F238E27FC236}">
                <a16:creationId xmlns:a16="http://schemas.microsoft.com/office/drawing/2014/main" id="{FF8F337A-BB9D-80EC-EE8D-2D3699223A46}"/>
              </a:ext>
            </a:extLst>
          </p:cNvPr>
          <p:cNvSpPr txBox="1"/>
          <p:nvPr/>
        </p:nvSpPr>
        <p:spPr>
          <a:xfrm>
            <a:off x="532564" y="4260719"/>
            <a:ext cx="11364684" cy="1754326"/>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Insights:</a:t>
            </a:r>
          </a:p>
          <a:p>
            <a:r>
              <a:rPr lang="en-IN" dirty="0">
                <a:latin typeface="Segoe UI" panose="020B0502040204020203" pitchFamily="34" charset="0"/>
                <a:cs typeface="Segoe UI" panose="020B0502040204020203" pitchFamily="34" charset="0"/>
              </a:rPr>
              <a:t>Most frequent negative Keywords include- “Food Quality”,” Not”,” Good”,” safety”,” issues.</a:t>
            </a:r>
            <a:r>
              <a:rPr lang="en-US" dirty="0">
                <a:latin typeface="Segoe UI" panose="020B0502040204020203" pitchFamily="34" charset="0"/>
                <a:cs typeface="Segoe UI" panose="020B0502040204020203" pitchFamily="34" charset="0"/>
              </a:rPr>
              <a:t> This clearly indicates that trust in food safety and consistency became the dominant concern among customers. </a:t>
            </a:r>
          </a:p>
          <a:p>
            <a:r>
              <a:rPr lang="en-US" b="1" dirty="0">
                <a:latin typeface="Segoe UI" panose="020B0502040204020203" pitchFamily="34" charset="0"/>
                <a:cs typeface="Segoe UI" panose="020B0502040204020203" pitchFamily="34" charset="0"/>
              </a:rPr>
              <a:t>Recommendations:</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Roll out </a:t>
            </a:r>
            <a:r>
              <a:rPr lang="en-US" b="1" dirty="0">
                <a:latin typeface="Segoe UI" panose="020B0502040204020203" pitchFamily="34" charset="0"/>
                <a:cs typeface="Segoe UI" panose="020B0502040204020203" pitchFamily="34" charset="0"/>
              </a:rPr>
              <a:t>visible food safety certifications</a:t>
            </a:r>
            <a:r>
              <a:rPr lang="en-US" dirty="0">
                <a:latin typeface="Segoe UI" panose="020B0502040204020203" pitchFamily="34" charset="0"/>
                <a:cs typeface="Segoe UI" panose="020B0502040204020203" pitchFamily="34" charset="0"/>
              </a:rPr>
              <a:t> for partner restaurants on the app.</a:t>
            </a:r>
          </a:p>
          <a:p>
            <a:r>
              <a:rPr lang="en-US" dirty="0">
                <a:latin typeface="Segoe UI" panose="020B0502040204020203" pitchFamily="34" charset="0"/>
                <a:cs typeface="Segoe UI" panose="020B0502040204020203" pitchFamily="34" charset="0"/>
              </a:rPr>
              <a:t>Highlight </a:t>
            </a:r>
            <a:r>
              <a:rPr lang="en-US" b="1" dirty="0">
                <a:latin typeface="Segoe UI" panose="020B0502040204020203" pitchFamily="34" charset="0"/>
                <a:cs typeface="Segoe UI" panose="020B0502040204020203" pitchFamily="34" charset="0"/>
              </a:rPr>
              <a:t>verified hygiene</a:t>
            </a:r>
            <a:r>
              <a:rPr lang="en-US" dirty="0">
                <a:latin typeface="Segoe UI" panose="020B0502040204020203" pitchFamily="34" charset="0"/>
                <a:cs typeface="Segoe UI" panose="020B0502040204020203" pitchFamily="34" charset="0"/>
              </a:rPr>
              <a:t> tags and promote partners who pass new safety audits.</a:t>
            </a:r>
          </a:p>
        </p:txBody>
      </p:sp>
    </p:spTree>
    <p:extLst>
      <p:ext uri="{BB962C8B-B14F-4D97-AF65-F5344CB8AC3E}">
        <p14:creationId xmlns:p14="http://schemas.microsoft.com/office/powerpoint/2010/main" val="3163324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05AC5171-41B2-4D83-020B-A40BF7948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08A27-8EF9-31BA-7F93-042B626D0673}"/>
              </a:ext>
            </a:extLst>
          </p:cNvPr>
          <p:cNvSpPr>
            <a:spLocks noGrp="1"/>
          </p:cNvSpPr>
          <p:nvPr>
            <p:ph type="title"/>
          </p:nvPr>
        </p:nvSpPr>
        <p:spPr>
          <a:xfrm>
            <a:off x="838200" y="365126"/>
            <a:ext cx="10515600" cy="568940"/>
          </a:xfrm>
        </p:spPr>
        <p:txBody>
          <a:bodyPr>
            <a:noAutofit/>
          </a:bodyPr>
          <a:lstStyle/>
          <a:p>
            <a:pPr algn="ctr"/>
            <a:r>
              <a:rPr lang="en-IN" sz="3600" dirty="0">
                <a:latin typeface="Bahnschrift" panose="020B0502040204020203" pitchFamily="34" charset="0"/>
              </a:rPr>
              <a:t>Revenue Impact</a:t>
            </a:r>
          </a:p>
        </p:txBody>
      </p:sp>
      <p:sp>
        <p:nvSpPr>
          <p:cNvPr id="4" name="TextBox 3">
            <a:extLst>
              <a:ext uri="{FF2B5EF4-FFF2-40B4-BE49-F238E27FC236}">
                <a16:creationId xmlns:a16="http://schemas.microsoft.com/office/drawing/2014/main" id="{C3C36A60-B1EA-8F80-E8F3-97C7DD9C2FF3}"/>
              </a:ext>
            </a:extLst>
          </p:cNvPr>
          <p:cNvSpPr txBox="1"/>
          <p:nvPr/>
        </p:nvSpPr>
        <p:spPr>
          <a:xfrm>
            <a:off x="462117" y="1170040"/>
            <a:ext cx="11208774" cy="369332"/>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Q8. </a:t>
            </a:r>
            <a:r>
              <a:rPr lang="en-US" dirty="0">
                <a:latin typeface="Segoe UI" panose="020B0502040204020203" pitchFamily="34" charset="0"/>
                <a:cs typeface="Segoe UI" panose="020B0502040204020203" pitchFamily="34" charset="0"/>
              </a:rPr>
              <a:t>Estimate revenue loss from pre-crisis vs crisis (based on subtotal, discount, and delivery fee). </a:t>
            </a:r>
          </a:p>
        </p:txBody>
      </p:sp>
      <p:sp>
        <p:nvSpPr>
          <p:cNvPr id="5" name="TextBox 4">
            <a:extLst>
              <a:ext uri="{FF2B5EF4-FFF2-40B4-BE49-F238E27FC236}">
                <a16:creationId xmlns:a16="http://schemas.microsoft.com/office/drawing/2014/main" id="{D33E8C94-48F5-FEE4-6BA5-015DDCAB6C00}"/>
              </a:ext>
            </a:extLst>
          </p:cNvPr>
          <p:cNvSpPr txBox="1"/>
          <p:nvPr/>
        </p:nvSpPr>
        <p:spPr>
          <a:xfrm>
            <a:off x="580103" y="4477347"/>
            <a:ext cx="11208774" cy="1754326"/>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Insights: </a:t>
            </a:r>
          </a:p>
          <a:p>
            <a:r>
              <a:rPr lang="en-US" dirty="0">
                <a:latin typeface="Segoe UI" panose="020B0502040204020203" pitchFamily="34" charset="0"/>
                <a:cs typeface="Segoe UI" panose="020B0502040204020203" pitchFamily="34" charset="0"/>
              </a:rPr>
              <a:t>Revenue dropped from </a:t>
            </a:r>
            <a:r>
              <a:rPr lang="en-US" b="1" dirty="0">
                <a:latin typeface="Segoe UI" panose="020B0502040204020203" pitchFamily="34" charset="0"/>
                <a:cs typeface="Segoe UI" panose="020B0502040204020203" pitchFamily="34" charset="0"/>
              </a:rPr>
              <a:t>₹37.6M pre-crisis to ₹11M during crisis</a:t>
            </a:r>
            <a:r>
              <a:rPr lang="en-US" dirty="0">
                <a:latin typeface="Segoe UI" panose="020B0502040204020203" pitchFamily="34" charset="0"/>
                <a:cs typeface="Segoe UI" panose="020B0502040204020203" pitchFamily="34" charset="0"/>
              </a:rPr>
              <a:t> (70.9 % decline). </a:t>
            </a:r>
          </a:p>
          <a:p>
            <a:r>
              <a:rPr lang="en-US" dirty="0">
                <a:latin typeface="Segoe UI" panose="020B0502040204020203" pitchFamily="34" charset="0"/>
                <a:cs typeface="Segoe UI" panose="020B0502040204020203" pitchFamily="34" charset="0"/>
              </a:rPr>
              <a:t>Discounts also reduced proportionally, showing lower marketing spend.</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Recommendations:</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Introduce targeted discount campaigns for lapsed high-value customers to stimulate order recovery.</a:t>
            </a:r>
          </a:p>
        </p:txBody>
      </p:sp>
      <p:pic>
        <p:nvPicPr>
          <p:cNvPr id="6" name="Picture 5">
            <a:extLst>
              <a:ext uri="{FF2B5EF4-FFF2-40B4-BE49-F238E27FC236}">
                <a16:creationId xmlns:a16="http://schemas.microsoft.com/office/drawing/2014/main" id="{8A9ABB87-FD96-87A3-2B18-293571A51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693" y="1665147"/>
            <a:ext cx="5534797" cy="2686425"/>
          </a:xfrm>
          <a:prstGeom prst="rect">
            <a:avLst/>
          </a:prstGeom>
        </p:spPr>
      </p:pic>
      <p:pic>
        <p:nvPicPr>
          <p:cNvPr id="8" name="Picture 7">
            <a:extLst>
              <a:ext uri="{FF2B5EF4-FFF2-40B4-BE49-F238E27FC236}">
                <a16:creationId xmlns:a16="http://schemas.microsoft.com/office/drawing/2014/main" id="{84AA9345-BE6B-B65D-EBAD-5DE263399D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8071" y="2458929"/>
            <a:ext cx="1543265" cy="819264"/>
          </a:xfrm>
          <a:prstGeom prst="rect">
            <a:avLst/>
          </a:prstGeom>
        </p:spPr>
      </p:pic>
    </p:spTree>
    <p:extLst>
      <p:ext uri="{BB962C8B-B14F-4D97-AF65-F5344CB8AC3E}">
        <p14:creationId xmlns:p14="http://schemas.microsoft.com/office/powerpoint/2010/main" val="1215549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060DEB60-B1C6-8095-7F50-5D8DBDCAE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946ED-0178-34E3-FD48-BAB2B1C1708C}"/>
              </a:ext>
            </a:extLst>
          </p:cNvPr>
          <p:cNvSpPr>
            <a:spLocks noGrp="1"/>
          </p:cNvSpPr>
          <p:nvPr>
            <p:ph type="title"/>
          </p:nvPr>
        </p:nvSpPr>
        <p:spPr>
          <a:xfrm>
            <a:off x="838200" y="167148"/>
            <a:ext cx="10515600" cy="481781"/>
          </a:xfrm>
        </p:spPr>
        <p:txBody>
          <a:bodyPr>
            <a:noAutofit/>
          </a:bodyPr>
          <a:lstStyle/>
          <a:p>
            <a:pPr algn="ctr"/>
            <a:r>
              <a:rPr lang="en-IN" sz="3600" dirty="0">
                <a:latin typeface="Bahnschrift" panose="020B0502040204020203" pitchFamily="34" charset="0"/>
              </a:rPr>
              <a:t>Loyalty Impact</a:t>
            </a:r>
          </a:p>
        </p:txBody>
      </p:sp>
      <p:sp>
        <p:nvSpPr>
          <p:cNvPr id="4" name="TextBox 3">
            <a:extLst>
              <a:ext uri="{FF2B5EF4-FFF2-40B4-BE49-F238E27FC236}">
                <a16:creationId xmlns:a16="http://schemas.microsoft.com/office/drawing/2014/main" id="{598E2C6F-9C45-D7D6-D10D-BF6CCE4394BA}"/>
              </a:ext>
            </a:extLst>
          </p:cNvPr>
          <p:cNvSpPr txBox="1"/>
          <p:nvPr/>
        </p:nvSpPr>
        <p:spPr>
          <a:xfrm>
            <a:off x="462117" y="648930"/>
            <a:ext cx="11159612" cy="646331"/>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Q9. </a:t>
            </a:r>
            <a:r>
              <a:rPr lang="en-US" dirty="0">
                <a:latin typeface="Segoe UI" panose="020B0502040204020203" pitchFamily="34" charset="0"/>
                <a:cs typeface="Segoe UI" panose="020B0502040204020203" pitchFamily="34" charset="0"/>
              </a:rPr>
              <a:t>Among customers who placed five or more orders before the crisis, determine how many stopped ordering during the crisis, and out of those, how many had an average rating above 4.5? </a:t>
            </a:r>
          </a:p>
        </p:txBody>
      </p:sp>
      <p:pic>
        <p:nvPicPr>
          <p:cNvPr id="6" name="Picture 5">
            <a:extLst>
              <a:ext uri="{FF2B5EF4-FFF2-40B4-BE49-F238E27FC236}">
                <a16:creationId xmlns:a16="http://schemas.microsoft.com/office/drawing/2014/main" id="{8D6BA6F8-5731-2F14-D7A7-66269D574C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95261"/>
            <a:ext cx="3677264" cy="4428456"/>
          </a:xfrm>
          <a:prstGeom prst="rect">
            <a:avLst/>
          </a:prstGeom>
        </p:spPr>
      </p:pic>
      <p:sp>
        <p:nvSpPr>
          <p:cNvPr id="3" name="TextBox 2">
            <a:extLst>
              <a:ext uri="{FF2B5EF4-FFF2-40B4-BE49-F238E27FC236}">
                <a16:creationId xmlns:a16="http://schemas.microsoft.com/office/drawing/2014/main" id="{EDD7B4E3-FE32-2266-A504-D2CA93EF0712}"/>
              </a:ext>
            </a:extLst>
          </p:cNvPr>
          <p:cNvSpPr txBox="1"/>
          <p:nvPr/>
        </p:nvSpPr>
        <p:spPr>
          <a:xfrm>
            <a:off x="639097" y="5879690"/>
            <a:ext cx="11434916" cy="646331"/>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Out of 58 loyal customers </a:t>
            </a:r>
            <a:r>
              <a:rPr lang="en-US" b="1" dirty="0">
                <a:latin typeface="Segoe UI" panose="020B0502040204020203" pitchFamily="34" charset="0"/>
                <a:cs typeface="Segoe UI" panose="020B0502040204020203" pitchFamily="34" charset="0"/>
              </a:rPr>
              <a:t>(5+ orders)</a:t>
            </a:r>
            <a:r>
              <a:rPr lang="en-US" dirty="0">
                <a:latin typeface="Segoe UI" panose="020B0502040204020203" pitchFamily="34" charset="0"/>
                <a:cs typeface="Segoe UI" panose="020B0502040204020203" pitchFamily="34" charset="0"/>
              </a:rPr>
              <a:t> pre-crisis, 49 stopped ordering during crisis , and </a:t>
            </a:r>
            <a:r>
              <a:rPr lang="en-US" b="1" dirty="0">
                <a:latin typeface="Segoe UI" panose="020B0502040204020203" pitchFamily="34" charset="0"/>
                <a:cs typeface="Segoe UI" panose="020B0502040204020203" pitchFamily="34" charset="0"/>
              </a:rPr>
              <a:t>30</a:t>
            </a:r>
            <a:r>
              <a:rPr lang="en-US" dirty="0">
                <a:latin typeface="Segoe UI" panose="020B0502040204020203" pitchFamily="34" charset="0"/>
                <a:cs typeface="Segoe UI" panose="020B0502040204020203" pitchFamily="34" charset="0"/>
              </a:rPr>
              <a:t> of them had ratings above 4.5.</a:t>
            </a:r>
            <a:endParaRPr lang="en-IN" dirty="0">
              <a:latin typeface="Segoe UI" panose="020B0502040204020203" pitchFamily="34" charset="0"/>
              <a:cs typeface="Segoe UI" panose="020B0502040204020203" pitchFamily="34" charset="0"/>
            </a:endParaRPr>
          </a:p>
        </p:txBody>
      </p:sp>
      <p:pic>
        <p:nvPicPr>
          <p:cNvPr id="9" name="Picture 8">
            <a:extLst>
              <a:ext uri="{FF2B5EF4-FFF2-40B4-BE49-F238E27FC236}">
                <a16:creationId xmlns:a16="http://schemas.microsoft.com/office/drawing/2014/main" id="{72E2EF51-A356-DFC1-0F5A-DF5E3AC23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4369" y="2387157"/>
            <a:ext cx="2124371" cy="800212"/>
          </a:xfrm>
          <a:prstGeom prst="rect">
            <a:avLst/>
          </a:prstGeom>
        </p:spPr>
      </p:pic>
      <p:pic>
        <p:nvPicPr>
          <p:cNvPr id="11" name="Picture 10">
            <a:extLst>
              <a:ext uri="{FF2B5EF4-FFF2-40B4-BE49-F238E27FC236}">
                <a16:creationId xmlns:a16="http://schemas.microsoft.com/office/drawing/2014/main" id="{3DADEF24-470A-D54C-1EC1-1A64786645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2782" y="2387158"/>
            <a:ext cx="2581635" cy="800212"/>
          </a:xfrm>
          <a:prstGeom prst="rect">
            <a:avLst/>
          </a:prstGeom>
        </p:spPr>
      </p:pic>
    </p:spTree>
    <p:extLst>
      <p:ext uri="{BB962C8B-B14F-4D97-AF65-F5344CB8AC3E}">
        <p14:creationId xmlns:p14="http://schemas.microsoft.com/office/powerpoint/2010/main" val="3303193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F69EA194-3D58-3EFF-ED56-B2363CE0B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70914-236E-DDAD-AB56-A4E00A85EA30}"/>
              </a:ext>
            </a:extLst>
          </p:cNvPr>
          <p:cNvSpPr>
            <a:spLocks noGrp="1"/>
          </p:cNvSpPr>
          <p:nvPr>
            <p:ph type="title"/>
          </p:nvPr>
        </p:nvSpPr>
        <p:spPr>
          <a:xfrm>
            <a:off x="838200" y="117254"/>
            <a:ext cx="10515600" cy="482514"/>
          </a:xfrm>
        </p:spPr>
        <p:txBody>
          <a:bodyPr>
            <a:noAutofit/>
          </a:bodyPr>
          <a:lstStyle/>
          <a:p>
            <a:pPr algn="ctr"/>
            <a:r>
              <a:rPr lang="en-IN" sz="3600" dirty="0">
                <a:latin typeface="Bahnschrift" panose="020B0502040204020203" pitchFamily="34" charset="0"/>
              </a:rPr>
              <a:t>Customer Lifetime Decline</a:t>
            </a:r>
          </a:p>
        </p:txBody>
      </p:sp>
      <p:sp>
        <p:nvSpPr>
          <p:cNvPr id="4" name="TextBox 3">
            <a:extLst>
              <a:ext uri="{FF2B5EF4-FFF2-40B4-BE49-F238E27FC236}">
                <a16:creationId xmlns:a16="http://schemas.microsoft.com/office/drawing/2014/main" id="{A74C801E-8F85-AC47-71AA-8A6A5184DE47}"/>
              </a:ext>
            </a:extLst>
          </p:cNvPr>
          <p:cNvSpPr txBox="1"/>
          <p:nvPr/>
        </p:nvSpPr>
        <p:spPr>
          <a:xfrm>
            <a:off x="462117" y="599768"/>
            <a:ext cx="11228438" cy="646331"/>
          </a:xfrm>
          <a:prstGeom prst="rect">
            <a:avLst/>
          </a:prstGeom>
          <a:noFill/>
        </p:spPr>
        <p:txBody>
          <a:bodyPr wrap="square" rtlCol="0">
            <a:spAutoFit/>
          </a:bodyPr>
          <a:lstStyle/>
          <a:p>
            <a:r>
              <a:rPr lang="en-IN" dirty="0">
                <a:latin typeface="Segoe UI" panose="020B0502040204020203" pitchFamily="34" charset="0"/>
                <a:cs typeface="Segoe UI" panose="020B0502040204020203" pitchFamily="34" charset="0"/>
              </a:rPr>
              <a:t>Q10. </a:t>
            </a:r>
            <a:r>
              <a:rPr lang="en-US" dirty="0">
                <a:latin typeface="Segoe UI" panose="020B0502040204020203" pitchFamily="34" charset="0"/>
                <a:cs typeface="Segoe UI" panose="020B0502040204020203" pitchFamily="34" charset="0"/>
              </a:rPr>
              <a:t>Which high-value customers (top 5% by total spend before the crisis) showed the largest drop in order frequency and ratings during the crisis? </a:t>
            </a:r>
          </a:p>
        </p:txBody>
      </p:sp>
      <p:pic>
        <p:nvPicPr>
          <p:cNvPr id="5" name="Picture 4">
            <a:extLst>
              <a:ext uri="{FF2B5EF4-FFF2-40B4-BE49-F238E27FC236}">
                <a16:creationId xmlns:a16="http://schemas.microsoft.com/office/drawing/2014/main" id="{05663A8E-80F4-EED3-00D3-041EA3792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9337" y="1316621"/>
            <a:ext cx="4602971" cy="5330562"/>
          </a:xfrm>
          <a:prstGeom prst="rect">
            <a:avLst/>
          </a:prstGeom>
        </p:spPr>
      </p:pic>
    </p:spTree>
    <p:extLst>
      <p:ext uri="{BB962C8B-B14F-4D97-AF65-F5344CB8AC3E}">
        <p14:creationId xmlns:p14="http://schemas.microsoft.com/office/powerpoint/2010/main" val="949953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B0854E09-CEDE-BDB8-8D37-5D082FB7D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29288-1058-83F4-CF30-6D7F097E1E99}"/>
              </a:ext>
            </a:extLst>
          </p:cNvPr>
          <p:cNvSpPr>
            <a:spLocks noGrp="1"/>
          </p:cNvSpPr>
          <p:nvPr>
            <p:ph type="title"/>
          </p:nvPr>
        </p:nvSpPr>
        <p:spPr>
          <a:xfrm>
            <a:off x="688257" y="78659"/>
            <a:ext cx="11051459" cy="658760"/>
          </a:xfrm>
        </p:spPr>
        <p:txBody>
          <a:bodyPr>
            <a:normAutofit/>
          </a:bodyPr>
          <a:lstStyle/>
          <a:p>
            <a:pPr algn="ctr"/>
            <a:r>
              <a:rPr lang="en-US" sz="3600" dirty="0">
                <a:latin typeface="Bahnschrift" panose="020B0502040204020203" pitchFamily="34" charset="0"/>
              </a:rPr>
              <a:t>Crisis Snapshot: </a:t>
            </a:r>
            <a:r>
              <a:rPr lang="en-US" sz="3600" dirty="0" err="1">
                <a:latin typeface="Bahnschrift" panose="020B0502040204020203" pitchFamily="34" charset="0"/>
              </a:rPr>
              <a:t>QuickBite</a:t>
            </a:r>
            <a:r>
              <a:rPr lang="en-US" sz="3600" dirty="0">
                <a:latin typeface="Bahnschrift" panose="020B0502040204020203" pitchFamily="34" charset="0"/>
              </a:rPr>
              <a:t> vs Competitors (Q2 FY25)</a:t>
            </a:r>
            <a:endParaRPr lang="en-IN" sz="3600" dirty="0">
              <a:latin typeface="Bahnschrift" panose="020B0502040204020203" pitchFamily="34" charset="0"/>
            </a:endParaRPr>
          </a:p>
        </p:txBody>
      </p:sp>
      <p:sp>
        <p:nvSpPr>
          <p:cNvPr id="3" name="TextBox 2">
            <a:extLst>
              <a:ext uri="{FF2B5EF4-FFF2-40B4-BE49-F238E27FC236}">
                <a16:creationId xmlns:a16="http://schemas.microsoft.com/office/drawing/2014/main" id="{404BF27B-6ECB-9C56-CAAA-77DDF61508A1}"/>
              </a:ext>
            </a:extLst>
          </p:cNvPr>
          <p:cNvSpPr txBox="1"/>
          <p:nvPr/>
        </p:nvSpPr>
        <p:spPr>
          <a:xfrm>
            <a:off x="688258" y="639097"/>
            <a:ext cx="11238272" cy="3970318"/>
          </a:xfrm>
          <a:prstGeom prst="rect">
            <a:avLst/>
          </a:prstGeom>
          <a:noFill/>
        </p:spPr>
        <p:txBody>
          <a:bodyPr wrap="square" rtlCol="0">
            <a:spAutoFit/>
          </a:bodyPr>
          <a:lstStyle/>
          <a:p>
            <a:r>
              <a:rPr lang="en-US" b="1" dirty="0" err="1">
                <a:latin typeface="Segoe UI" panose="020B0502040204020203" pitchFamily="34" charset="0"/>
                <a:cs typeface="Segoe UI" panose="020B0502040204020203" pitchFamily="34" charset="0"/>
              </a:rPr>
              <a:t>QuickBite</a:t>
            </a:r>
            <a:r>
              <a:rPr lang="en-US" b="1" dirty="0">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Performance Decline</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69% drop in orders and 71% revenue loss</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95% churn among top spenders</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SLA rate declined to 12.2 %</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Acquisition volume collapsed by 80%; CAC tripled</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Tier-1 cities saw the steepest acquisition decline</a:t>
            </a:r>
          </a:p>
          <a:p>
            <a:r>
              <a:rPr lang="en-US" dirty="0">
                <a:latin typeface="Segoe UI" panose="020B0502040204020203" pitchFamily="34" charset="0"/>
                <a:cs typeface="Segoe UI" panose="020B0502040204020203" pitchFamily="34" charset="0"/>
              </a:rPr>
              <a:t>Competitor Highlights</a:t>
            </a:r>
          </a:p>
          <a:p>
            <a:r>
              <a:rPr lang="en-US" b="1" dirty="0">
                <a:latin typeface="Segoe UI" panose="020B0502040204020203" pitchFamily="34" charset="0"/>
                <a:cs typeface="Segoe UI" panose="020B0502040204020203" pitchFamily="34" charset="0"/>
              </a:rPr>
              <a:t>Swiggy Q2 FY26 Forecast</a:t>
            </a:r>
          </a:p>
          <a:p>
            <a:r>
              <a:rPr lang="en-US" b="1" dirty="0">
                <a:latin typeface="Segoe UI" panose="020B0502040204020203" pitchFamily="34" charset="0"/>
                <a:cs typeface="Segoe UI" panose="020B0502040204020203" pitchFamily="34" charset="0"/>
              </a:rPr>
              <a:t>Revenue Growth</a:t>
            </a:r>
            <a:r>
              <a:rPr lang="en-US" dirty="0">
                <a:latin typeface="Segoe UI" panose="020B0502040204020203" pitchFamily="34" charset="0"/>
                <a:cs typeface="Segoe UI" panose="020B0502040204020203" pitchFamily="34" charset="0"/>
              </a:rPr>
              <a:t>: Expected 49% YoY increase to ₹5,348.2 crore</a:t>
            </a:r>
          </a:p>
          <a:p>
            <a:r>
              <a:rPr lang="en-US" b="1" dirty="0">
                <a:latin typeface="Segoe UI" panose="020B0502040204020203" pitchFamily="34" charset="0"/>
                <a:cs typeface="Segoe UI" panose="020B0502040204020203" pitchFamily="34" charset="0"/>
              </a:rPr>
              <a:t>Food Delivery Revenue</a:t>
            </a:r>
            <a:r>
              <a:rPr lang="en-US" dirty="0">
                <a:latin typeface="Segoe UI" panose="020B0502040204020203" pitchFamily="34" charset="0"/>
                <a:cs typeface="Segoe UI" panose="020B0502040204020203" pitchFamily="34" charset="0"/>
              </a:rPr>
              <a:t>: 20% YoY growth</a:t>
            </a:r>
          </a:p>
          <a:p>
            <a:r>
              <a:rPr lang="en-US" b="1" dirty="0" err="1">
                <a:latin typeface="Segoe UI" panose="020B0502040204020203" pitchFamily="34" charset="0"/>
                <a:cs typeface="Segoe UI" panose="020B0502040204020203" pitchFamily="34" charset="0"/>
              </a:rPr>
              <a:t>Instamart</a:t>
            </a:r>
            <a:r>
              <a:rPr lang="en-US" b="1" dirty="0">
                <a:latin typeface="Segoe UI" panose="020B0502040204020203" pitchFamily="34" charset="0"/>
                <a:cs typeface="Segoe UI" panose="020B0502040204020203" pitchFamily="34" charset="0"/>
              </a:rPr>
              <a:t> Revenue</a:t>
            </a:r>
            <a:r>
              <a:rPr lang="en-US" dirty="0">
                <a:latin typeface="Segoe UI" panose="020B0502040204020203" pitchFamily="34" charset="0"/>
                <a:cs typeface="Segoe UI" panose="020B0502040204020203" pitchFamily="34" charset="0"/>
              </a:rPr>
              <a:t>: Predicted 102% surge</a:t>
            </a:r>
          </a:p>
          <a:p>
            <a:r>
              <a:rPr lang="en-US" b="1" dirty="0">
                <a:latin typeface="Segoe UI" panose="020B0502040204020203" pitchFamily="34" charset="0"/>
                <a:cs typeface="Segoe UI" panose="020B0502040204020203" pitchFamily="34" charset="0"/>
              </a:rPr>
              <a:t>Growth Drivers</a:t>
            </a:r>
            <a:r>
              <a:rPr lang="en-US" dirty="0">
                <a:latin typeface="Segoe UI" panose="020B0502040204020203" pitchFamily="34" charset="0"/>
                <a:cs typeface="Segoe UI" panose="020B0502040204020203" pitchFamily="34" charset="0"/>
              </a:rPr>
              <a:t>: Bolt delivery model, user base expansion</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Swiggy: 5.6% QoQ growth in food delivery; 24% in quick commerce via </a:t>
            </a:r>
            <a:r>
              <a:rPr lang="en-US" dirty="0" err="1">
                <a:latin typeface="Segoe UI" panose="020B0502040204020203" pitchFamily="34" charset="0"/>
                <a:cs typeface="Segoe UI" panose="020B0502040204020203" pitchFamily="34" charset="0"/>
              </a:rPr>
              <a:t>SwiggyOne</a:t>
            </a:r>
            <a:r>
              <a:rPr lang="en-US" dirty="0">
                <a:latin typeface="Segoe UI" panose="020B0502040204020203" pitchFamily="34" charset="0"/>
                <a:cs typeface="Segoe UI" panose="020B0502040204020203" pitchFamily="34" charset="0"/>
              </a:rPr>
              <a:t> and scale</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Zomato: Gained edge through gamified loyalty, hygiene storytelling, and hyperlocal influencer campaigns</a:t>
            </a:r>
            <a:r>
              <a:rPr lang="en-US" b="1" dirty="0">
                <a:latin typeface="Segoe UI" panose="020B0502040204020203" pitchFamily="34" charset="0"/>
                <a:cs typeface="Segoe UI" panose="020B0502040204020203" pitchFamily="34" charset="0"/>
              </a:rPr>
              <a:t>.</a:t>
            </a:r>
          </a:p>
        </p:txBody>
      </p:sp>
      <p:sp>
        <p:nvSpPr>
          <p:cNvPr id="4" name="TextBox 3">
            <a:extLst>
              <a:ext uri="{FF2B5EF4-FFF2-40B4-BE49-F238E27FC236}">
                <a16:creationId xmlns:a16="http://schemas.microsoft.com/office/drawing/2014/main" id="{540AACE0-A226-992F-02BD-9258C8D27D59}"/>
              </a:ext>
            </a:extLst>
          </p:cNvPr>
          <p:cNvSpPr txBox="1"/>
          <p:nvPr/>
        </p:nvSpPr>
        <p:spPr>
          <a:xfrm>
            <a:off x="688257" y="4549676"/>
            <a:ext cx="10785988" cy="2308324"/>
          </a:xfrm>
          <a:prstGeom prst="rect">
            <a:avLst/>
          </a:prstGeom>
          <a:noFill/>
        </p:spPr>
        <p:txBody>
          <a:bodyPr wrap="square" rtlCol="0">
            <a:spAutoFit/>
          </a:bodyPr>
          <a:lstStyle/>
          <a:p>
            <a:r>
              <a:rPr lang="en-US" sz="3600" dirty="0">
                <a:latin typeface="Bahnschrift" panose="020B0502040204020203" pitchFamily="34" charset="0"/>
                <a:ea typeface="Calibri Light" panose="020F0302020204030204" pitchFamily="34" charset="0"/>
                <a:cs typeface="Calibri Light" panose="020F0302020204030204" pitchFamily="34" charset="0"/>
              </a:rPr>
              <a:t>Acquisition Collapse vs CAC Surge</a:t>
            </a:r>
          </a:p>
          <a:p>
            <a:r>
              <a:rPr lang="en-US" dirty="0">
                <a:latin typeface="Segoe UI" panose="020B0502040204020203" pitchFamily="34" charset="0"/>
                <a:cs typeface="Segoe UI" panose="020B0502040204020203" pitchFamily="34" charset="0"/>
              </a:rPr>
              <a:t>Insights:</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New customer acquisition fell from 22.5K to 5K/month (80% drop)</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CAC more than tripled, with no external cost drivers (e.g., ad pricing or seasonality)</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Conversion inefficiency driven by SLA breaches and negative sentiment</a:t>
            </a: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Trust erosion severely impacted funnel performance</a:t>
            </a:r>
          </a:p>
          <a:p>
            <a:endParaRPr lang="en-IN" dirty="0"/>
          </a:p>
        </p:txBody>
      </p:sp>
    </p:spTree>
    <p:extLst>
      <p:ext uri="{BB962C8B-B14F-4D97-AF65-F5344CB8AC3E}">
        <p14:creationId xmlns:p14="http://schemas.microsoft.com/office/powerpoint/2010/main" val="2829474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CD564637-4B57-374B-F936-380182A06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02485-DC42-45ED-FDA8-90E3BCE2C5E9}"/>
              </a:ext>
            </a:extLst>
          </p:cNvPr>
          <p:cNvSpPr>
            <a:spLocks noGrp="1"/>
          </p:cNvSpPr>
          <p:nvPr>
            <p:ph type="title"/>
          </p:nvPr>
        </p:nvSpPr>
        <p:spPr>
          <a:xfrm>
            <a:off x="838200" y="365126"/>
            <a:ext cx="10515600" cy="745920"/>
          </a:xfrm>
        </p:spPr>
        <p:txBody>
          <a:bodyPr>
            <a:normAutofit/>
          </a:bodyPr>
          <a:lstStyle/>
          <a:p>
            <a:pPr algn="ctr"/>
            <a:r>
              <a:rPr lang="en-IN" sz="3600" dirty="0">
                <a:latin typeface="Bahnschrift" panose="020B0502040204020203" pitchFamily="34" charset="0"/>
              </a:rPr>
              <a:t>Customer Risk Classification</a:t>
            </a:r>
          </a:p>
        </p:txBody>
      </p:sp>
      <p:sp>
        <p:nvSpPr>
          <p:cNvPr id="6" name="TextBox 5">
            <a:extLst>
              <a:ext uri="{FF2B5EF4-FFF2-40B4-BE49-F238E27FC236}">
                <a16:creationId xmlns:a16="http://schemas.microsoft.com/office/drawing/2014/main" id="{973F4A06-A701-05F1-D290-BB5BB5A51A67}"/>
              </a:ext>
            </a:extLst>
          </p:cNvPr>
          <p:cNvSpPr txBox="1"/>
          <p:nvPr/>
        </p:nvSpPr>
        <p:spPr>
          <a:xfrm>
            <a:off x="838200" y="1474839"/>
            <a:ext cx="10901516" cy="286232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Customer Risk Segments: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High Risk:</a:t>
            </a:r>
            <a:r>
              <a:rPr lang="en-US" dirty="0">
                <a:latin typeface="Segoe UI" panose="020B0502040204020203" pitchFamily="34" charset="0"/>
                <a:cs typeface="Segoe UI" panose="020B0502040204020203" pitchFamily="34" charset="0"/>
              </a:rPr>
              <a:t> Loyal customers (≥5 pre-crisis orders, avg rating ≥4.5) who made </a:t>
            </a:r>
            <a:r>
              <a:rPr lang="en-US" b="1" dirty="0">
                <a:latin typeface="Segoe UI" panose="020B0502040204020203" pitchFamily="34" charset="0"/>
                <a:cs typeface="Segoe UI" panose="020B0502040204020203" pitchFamily="34" charset="0"/>
              </a:rPr>
              <a:t>no orders during the crisis</a:t>
            </a:r>
            <a:r>
              <a:rPr lang="en-US" dirty="0">
                <a:latin typeface="Segoe UI" panose="020B0502040204020203" pitchFamily="34" charset="0"/>
                <a:cs typeface="Segoe UI" panose="020B0502040204020203" pitchFamily="34" charset="0"/>
              </a:rPr>
              <a:t>. Immediate focus group for recovery campaigns.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Medium Risk:</a:t>
            </a:r>
            <a:r>
              <a:rPr lang="en-US" dirty="0">
                <a:latin typeface="Segoe UI" panose="020B0502040204020203" pitchFamily="34" charset="0"/>
                <a:cs typeface="Segoe UI" panose="020B0502040204020203" pitchFamily="34" charset="0"/>
              </a:rPr>
              <a:t> Customers with moderate engagement (2–4 pre-crisis orders) Require reactivation offers.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Low Risk:</a:t>
            </a:r>
            <a:r>
              <a:rPr lang="en-US" dirty="0">
                <a:latin typeface="Segoe UI" panose="020B0502040204020203" pitchFamily="34" charset="0"/>
                <a:cs typeface="Segoe UI" panose="020B0502040204020203" pitchFamily="34" charset="0"/>
              </a:rPr>
              <a:t> Customers who ordered less frequently during pre-crisis but </a:t>
            </a:r>
            <a:r>
              <a:rPr lang="en-US" b="1" dirty="0">
                <a:latin typeface="Segoe UI" panose="020B0502040204020203" pitchFamily="34" charset="0"/>
                <a:cs typeface="Segoe UI" panose="020B0502040204020203" pitchFamily="34" charset="0"/>
              </a:rPr>
              <a:t>remained somewhat active.</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Retained Customers:</a:t>
            </a:r>
            <a:r>
              <a:rPr lang="en-US" dirty="0">
                <a:latin typeface="Segoe UI" panose="020B0502040204020203" pitchFamily="34" charset="0"/>
                <a:cs typeface="Segoe UI" panose="020B0502040204020203" pitchFamily="34" charset="0"/>
              </a:rPr>
              <a:t> Those who continued ordering across both phases.</a:t>
            </a:r>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84774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AA0224DD-6EDB-2BC0-EB69-7C376D945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EB1F9-ECD8-6209-B310-75FFC3C1A4E5}"/>
              </a:ext>
            </a:extLst>
          </p:cNvPr>
          <p:cNvSpPr>
            <a:spLocks noGrp="1"/>
          </p:cNvSpPr>
          <p:nvPr>
            <p:ph type="title"/>
          </p:nvPr>
        </p:nvSpPr>
        <p:spPr>
          <a:xfrm>
            <a:off x="838200" y="365125"/>
            <a:ext cx="10515600" cy="785249"/>
          </a:xfrm>
        </p:spPr>
        <p:txBody>
          <a:bodyPr>
            <a:normAutofit/>
          </a:bodyPr>
          <a:lstStyle/>
          <a:p>
            <a:pPr algn="ctr"/>
            <a:r>
              <a:rPr lang="en-US" sz="3600" dirty="0">
                <a:latin typeface="Bahnschrift" panose="020B0502040204020203" pitchFamily="34" charset="0"/>
              </a:rPr>
              <a:t>Customer Recovery Strategy</a:t>
            </a:r>
            <a:endParaRPr lang="en-IN" sz="3600" dirty="0">
              <a:latin typeface="Bahnschrift" panose="020B0502040204020203" pitchFamily="34" charset="0"/>
            </a:endParaRPr>
          </a:p>
        </p:txBody>
      </p:sp>
      <p:sp>
        <p:nvSpPr>
          <p:cNvPr id="3" name="TextBox 2">
            <a:extLst>
              <a:ext uri="{FF2B5EF4-FFF2-40B4-BE49-F238E27FC236}">
                <a16:creationId xmlns:a16="http://schemas.microsoft.com/office/drawing/2014/main" id="{B034E6F8-0C74-E22A-1788-BA120C408B5C}"/>
              </a:ext>
            </a:extLst>
          </p:cNvPr>
          <p:cNvSpPr txBox="1"/>
          <p:nvPr/>
        </p:nvSpPr>
        <p:spPr>
          <a:xfrm>
            <a:off x="975851" y="1248697"/>
            <a:ext cx="10613923" cy="5632311"/>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Key Recommendations</a:t>
            </a:r>
          </a:p>
          <a:p>
            <a:endParaRPr lang="en-US" b="1" dirty="0">
              <a:latin typeface="Segoe UI" panose="020B0502040204020203" pitchFamily="34" charset="0"/>
              <a:cs typeface="Segoe UI" panose="020B0502040204020203" pitchFamily="34" charset="0"/>
            </a:endParaRPr>
          </a:p>
          <a:p>
            <a:pPr marL="342900" indent="-342900">
              <a:buAutoNum type="arabicPeriod"/>
            </a:pPr>
            <a:r>
              <a:rPr lang="en-US" b="1" dirty="0">
                <a:latin typeface="Segoe UI" panose="020B0502040204020203" pitchFamily="34" charset="0"/>
                <a:cs typeface="Segoe UI" panose="020B0502040204020203" pitchFamily="34" charset="0"/>
              </a:rPr>
              <a:t>Re-engage High-Risk Loyal Customers</a:t>
            </a:r>
          </a:p>
          <a:p>
            <a:r>
              <a:rPr lang="en-US" dirty="0">
                <a:latin typeface="Segoe UI" panose="020B0502040204020203" pitchFamily="34" charset="0"/>
                <a:cs typeface="Segoe UI" panose="020B0502040204020203" pitchFamily="34" charset="0"/>
              </a:rPr>
              <a:t>Offer </a:t>
            </a:r>
            <a:r>
              <a:rPr lang="en-US" b="1" dirty="0">
                <a:latin typeface="Segoe UI" panose="020B0502040204020203" pitchFamily="34" charset="0"/>
                <a:cs typeface="Segoe UI" panose="020B0502040204020203" pitchFamily="34" charset="0"/>
              </a:rPr>
              <a:t>personalized cashback</a:t>
            </a:r>
            <a:r>
              <a:rPr lang="en-US" dirty="0">
                <a:latin typeface="Segoe UI" panose="020B0502040204020203" pitchFamily="34" charset="0"/>
                <a:cs typeface="Segoe UI" panose="020B0502040204020203" pitchFamily="34" charset="0"/>
              </a:rPr>
              <a:t> and targeted </a:t>
            </a:r>
            <a:r>
              <a:rPr lang="en-US" b="1" dirty="0">
                <a:latin typeface="Segoe UI" panose="020B0502040204020203" pitchFamily="34" charset="0"/>
                <a:cs typeface="Segoe UI" panose="020B0502040204020203" pitchFamily="34" charset="0"/>
              </a:rPr>
              <a:t>“We Miss You” campaigns</a:t>
            </a:r>
            <a:r>
              <a:rPr lang="en-US" dirty="0">
                <a:latin typeface="Segoe UI" panose="020B0502040204020203" pitchFamily="34" charset="0"/>
                <a:cs typeface="Segoe UI" panose="020B0502040204020203" pitchFamily="34" charset="0"/>
              </a:rPr>
              <a:t> through email and in-app messages. Prioritize rebuilding trust by highlighting improved food safety and service reliability.</a:t>
            </a:r>
          </a:p>
          <a:p>
            <a:pPr marL="342900" indent="-342900">
              <a:buAutoNum type="arabicPeriod"/>
            </a:pP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2. Revive Medium-Risk Customers</a:t>
            </a:r>
          </a:p>
          <a:p>
            <a:r>
              <a:rPr lang="en-US" dirty="0">
                <a:latin typeface="Segoe UI" panose="020B0502040204020203" pitchFamily="34" charset="0"/>
                <a:cs typeface="Segoe UI" panose="020B0502040204020203" pitchFamily="34" charset="0"/>
              </a:rPr>
              <a:t>Deploy </a:t>
            </a:r>
            <a:r>
              <a:rPr lang="en-US" b="1" dirty="0">
                <a:latin typeface="Segoe UI" panose="020B0502040204020203" pitchFamily="34" charset="0"/>
                <a:cs typeface="Segoe UI" panose="020B0502040204020203" pitchFamily="34" charset="0"/>
              </a:rPr>
              <a:t>app notifications</a:t>
            </a:r>
            <a:r>
              <a:rPr lang="en-US" dirty="0">
                <a:latin typeface="Segoe UI" panose="020B0502040204020203" pitchFamily="34" charset="0"/>
                <a:cs typeface="Segoe UI" panose="020B0502040204020203" pitchFamily="34" charset="0"/>
              </a:rPr>
              <a:t>, </a:t>
            </a:r>
            <a:r>
              <a:rPr lang="en-US" b="1" dirty="0">
                <a:latin typeface="Segoe UI" panose="020B0502040204020203" pitchFamily="34" charset="0"/>
                <a:cs typeface="Segoe UI" panose="020B0502040204020203" pitchFamily="34" charset="0"/>
              </a:rPr>
              <a:t>loyalty points</a:t>
            </a:r>
            <a:r>
              <a:rPr lang="en-US" dirty="0">
                <a:latin typeface="Segoe UI" panose="020B0502040204020203" pitchFamily="34" charset="0"/>
                <a:cs typeface="Segoe UI" panose="020B0502040204020203" pitchFamily="34" charset="0"/>
              </a:rPr>
              <a:t>, and </a:t>
            </a:r>
            <a:r>
              <a:rPr lang="en-US" b="1" dirty="0">
                <a:latin typeface="Segoe UI" panose="020B0502040204020203" pitchFamily="34" charset="0"/>
                <a:cs typeface="Segoe UI" panose="020B0502040204020203" pitchFamily="34" charset="0"/>
              </a:rPr>
              <a:t>small-value vouchers</a:t>
            </a:r>
            <a:r>
              <a:rPr lang="en-US" dirty="0">
                <a:latin typeface="Segoe UI" panose="020B0502040204020203" pitchFamily="34" charset="0"/>
                <a:cs typeface="Segoe UI" panose="020B0502040204020203" pitchFamily="34" charset="0"/>
              </a:rPr>
              <a:t> to encourage reactivation. Focus on  reminding them of platform benefits and improved reliability post-crisis.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3. Nurture Low-Risk Customers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Use </a:t>
            </a:r>
            <a:r>
              <a:rPr lang="en-US" b="1" dirty="0">
                <a:latin typeface="Segoe UI" panose="020B0502040204020203" pitchFamily="34" charset="0"/>
                <a:cs typeface="Segoe UI" panose="020B0502040204020203" pitchFamily="34" charset="0"/>
              </a:rPr>
              <a:t>light-touch communication</a:t>
            </a:r>
            <a:r>
              <a:rPr lang="en-US" dirty="0">
                <a:latin typeface="Segoe UI" panose="020B0502040204020203" pitchFamily="34" charset="0"/>
                <a:cs typeface="Segoe UI" panose="020B0502040204020203" pitchFamily="34" charset="0"/>
              </a:rPr>
              <a:t> such as feedback surveys and appreciation emails to maintain engagement without excessive incentives.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4. Reward and Retain Active Customers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Introduce </a:t>
            </a:r>
            <a:r>
              <a:rPr lang="en-US" b="1" dirty="0">
                <a:latin typeface="Segoe UI" panose="020B0502040204020203" pitchFamily="34" charset="0"/>
                <a:cs typeface="Segoe UI" panose="020B0502040204020203" pitchFamily="34" charset="0"/>
              </a:rPr>
              <a:t>tiered loyalty rewards</a:t>
            </a:r>
            <a:r>
              <a:rPr lang="en-US" dirty="0">
                <a:latin typeface="Segoe UI" panose="020B0502040204020203" pitchFamily="34" charset="0"/>
                <a:cs typeface="Segoe UI" panose="020B0502040204020203" pitchFamily="34" charset="0"/>
              </a:rPr>
              <a:t> and </a:t>
            </a:r>
            <a:r>
              <a:rPr lang="en-US" b="1" dirty="0">
                <a:latin typeface="Segoe UI" panose="020B0502040204020203" pitchFamily="34" charset="0"/>
                <a:cs typeface="Segoe UI" panose="020B0502040204020203" pitchFamily="34" charset="0"/>
              </a:rPr>
              <a:t>referral incentives</a:t>
            </a:r>
            <a:r>
              <a:rPr lang="en-US" dirty="0">
                <a:latin typeface="Segoe UI" panose="020B0502040204020203" pitchFamily="34" charset="0"/>
                <a:cs typeface="Segoe UI" panose="020B0502040204020203" pitchFamily="34" charset="0"/>
              </a:rPr>
              <a:t> to strengthen advocacy among retained users and drive organic acquisition.</a:t>
            </a:r>
          </a:p>
          <a:p>
            <a:pPr marL="285750" indent="-285750">
              <a:buFont typeface="Wingdings" panose="05000000000000000000" pitchFamily="2" charset="2"/>
              <a:buChar char="v"/>
            </a:pPr>
            <a:endParaRPr lang="en-US" b="1" dirty="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v"/>
            </a:pPr>
            <a:endParaRPr lang="en-US" b="1" dirty="0">
              <a:latin typeface="Segoe UI" panose="020B0502040204020203" pitchFamily="34" charset="0"/>
              <a:cs typeface="Segoe UI" panose="020B0502040204020203" pitchFamily="34" charset="0"/>
            </a:endParaRPr>
          </a:p>
          <a:p>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1261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78C980B2-A4F7-DCBC-7C5C-018F5B6440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91841A-980F-A440-BA98-81E2CBAC145C}"/>
              </a:ext>
            </a:extLst>
          </p:cNvPr>
          <p:cNvSpPr txBox="1"/>
          <p:nvPr/>
        </p:nvSpPr>
        <p:spPr>
          <a:xfrm>
            <a:off x="707924" y="452284"/>
            <a:ext cx="10861302" cy="2308324"/>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Strategic Focus</a:t>
            </a:r>
          </a:p>
          <a:p>
            <a:r>
              <a:rPr lang="en-US" b="1" dirty="0">
                <a:latin typeface="Segoe UI" panose="020B0502040204020203" pitchFamily="34" charset="0"/>
                <a:cs typeface="Segoe UI" panose="020B0502040204020203" pitchFamily="34" charset="0"/>
              </a:rPr>
              <a:t>Use Risk Tiering to Drive Retention</a:t>
            </a: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High Risk:</a:t>
            </a:r>
            <a:r>
              <a:rPr lang="en-US" dirty="0">
                <a:latin typeface="Segoe UI" panose="020B0502040204020203" pitchFamily="34" charset="0"/>
                <a:cs typeface="Segoe UI" panose="020B0502040204020203" pitchFamily="34" charset="0"/>
              </a:rPr>
              <a:t> Immediate personalized outreach and trust-rebuilding efforts.</a:t>
            </a:r>
          </a:p>
          <a:p>
            <a:r>
              <a:rPr lang="en-US" b="1" dirty="0">
                <a:latin typeface="Segoe UI" panose="020B0502040204020203" pitchFamily="34" charset="0"/>
                <a:cs typeface="Segoe UI" panose="020B0502040204020203" pitchFamily="34" charset="0"/>
              </a:rPr>
              <a:t>Retained:</a:t>
            </a:r>
            <a:r>
              <a:rPr lang="en-US" dirty="0">
                <a:latin typeface="Segoe UI" panose="020B0502040204020203" pitchFamily="34" charset="0"/>
                <a:cs typeface="Segoe UI" panose="020B0502040204020203" pitchFamily="34" charset="0"/>
              </a:rPr>
              <a:t> Leverage for positive reviews, referrals, and upselling premium offers.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Cuisine-Specific Campaigns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Sales of </a:t>
            </a:r>
            <a:r>
              <a:rPr lang="en-US" b="1" dirty="0">
                <a:latin typeface="Segoe UI" panose="020B0502040204020203" pitchFamily="34" charset="0"/>
                <a:cs typeface="Segoe UI" panose="020B0502040204020203" pitchFamily="34" charset="0"/>
              </a:rPr>
              <a:t>Biryani</a:t>
            </a:r>
            <a:r>
              <a:rPr lang="en-US" dirty="0">
                <a:latin typeface="Segoe UI" panose="020B0502040204020203" pitchFamily="34" charset="0"/>
                <a:cs typeface="Segoe UI" panose="020B0502040204020203" pitchFamily="34" charset="0"/>
              </a:rPr>
              <a:t> and </a:t>
            </a:r>
            <a:r>
              <a:rPr lang="en-US" b="1" dirty="0">
                <a:latin typeface="Segoe UI" panose="020B0502040204020203" pitchFamily="34" charset="0"/>
                <a:cs typeface="Segoe UI" panose="020B0502040204020203" pitchFamily="34" charset="0"/>
              </a:rPr>
              <a:t>North Indian</a:t>
            </a:r>
            <a:r>
              <a:rPr lang="en-US" dirty="0">
                <a:latin typeface="Segoe UI" panose="020B0502040204020203" pitchFamily="34" charset="0"/>
                <a:cs typeface="Segoe UI" panose="020B0502040204020203" pitchFamily="34" charset="0"/>
              </a:rPr>
              <a:t> cuisines dropped the most during the crisis. Launch </a:t>
            </a:r>
            <a:r>
              <a:rPr lang="en-US" b="1" dirty="0">
                <a:latin typeface="Segoe UI" panose="020B0502040204020203" pitchFamily="34" charset="0"/>
                <a:cs typeface="Segoe UI" panose="020B0502040204020203" pitchFamily="34" charset="0"/>
              </a:rPr>
              <a:t>cuisine-based offers</a:t>
            </a:r>
            <a:r>
              <a:rPr lang="en-US" dirty="0">
                <a:latin typeface="Segoe UI" panose="020B0502040204020203" pitchFamily="34" charset="0"/>
                <a:cs typeface="Segoe UI" panose="020B0502040204020203" pitchFamily="34" charset="0"/>
              </a:rPr>
              <a:t> and highlight </a:t>
            </a:r>
            <a:r>
              <a:rPr lang="en-US" b="1" dirty="0">
                <a:latin typeface="Segoe UI" panose="020B0502040204020203" pitchFamily="34" charset="0"/>
                <a:cs typeface="Segoe UI" panose="020B0502040204020203" pitchFamily="34" charset="0"/>
              </a:rPr>
              <a:t>verified-safe restaurants</a:t>
            </a:r>
            <a:r>
              <a:rPr lang="en-US" dirty="0">
                <a:latin typeface="Segoe UI" panose="020B0502040204020203" pitchFamily="34" charset="0"/>
                <a:cs typeface="Segoe UI" panose="020B0502040204020203" pitchFamily="34" charset="0"/>
              </a:rPr>
              <a:t> to regain interest in these popular categories.</a:t>
            </a:r>
          </a:p>
        </p:txBody>
      </p:sp>
    </p:spTree>
    <p:extLst>
      <p:ext uri="{BB962C8B-B14F-4D97-AF65-F5344CB8AC3E}">
        <p14:creationId xmlns:p14="http://schemas.microsoft.com/office/powerpoint/2010/main" val="1456044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69EA443E-D81D-5804-7274-E0A501C6F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B748B-77A7-87FA-8651-2BB053A10F50}"/>
              </a:ext>
            </a:extLst>
          </p:cNvPr>
          <p:cNvSpPr>
            <a:spLocks noGrp="1"/>
          </p:cNvSpPr>
          <p:nvPr>
            <p:ph type="title"/>
          </p:nvPr>
        </p:nvSpPr>
        <p:spPr>
          <a:xfrm>
            <a:off x="838200" y="365125"/>
            <a:ext cx="10515600" cy="785249"/>
          </a:xfrm>
        </p:spPr>
        <p:txBody>
          <a:bodyPr>
            <a:normAutofit/>
          </a:bodyPr>
          <a:lstStyle/>
          <a:p>
            <a:pPr algn="ctr"/>
            <a:r>
              <a:rPr lang="en-US" sz="3600" dirty="0">
                <a:latin typeface="Bahnschrift" panose="020B0502040204020203" pitchFamily="34" charset="0"/>
              </a:rPr>
              <a:t>Churn Impact by Restaurant Value Segment</a:t>
            </a:r>
            <a:endParaRPr lang="en-IN" sz="3600" dirty="0">
              <a:latin typeface="Bahnschrift" panose="020B0502040204020203" pitchFamily="34" charset="0"/>
            </a:endParaRPr>
          </a:p>
        </p:txBody>
      </p:sp>
      <p:sp>
        <p:nvSpPr>
          <p:cNvPr id="5" name="TextBox 4">
            <a:extLst>
              <a:ext uri="{FF2B5EF4-FFF2-40B4-BE49-F238E27FC236}">
                <a16:creationId xmlns:a16="http://schemas.microsoft.com/office/drawing/2014/main" id="{5885CA03-7DF8-6AB9-0C3F-3ECF2C7B8762}"/>
              </a:ext>
            </a:extLst>
          </p:cNvPr>
          <p:cNvSpPr txBox="1"/>
          <p:nvPr/>
        </p:nvSpPr>
        <p:spPr>
          <a:xfrm>
            <a:off x="838200" y="1317523"/>
            <a:ext cx="10731025" cy="2031325"/>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Segoe UI" panose="020B0502040204020203" pitchFamily="34" charset="0"/>
                <a:cs typeface="Segoe UI" panose="020B0502040204020203" pitchFamily="34" charset="0"/>
              </a:rPr>
              <a:t>High Value (Churned) </a:t>
            </a:r>
            <a:r>
              <a:rPr lang="en-US" dirty="0">
                <a:latin typeface="Segoe UI" panose="020B0502040204020203" pitchFamily="34" charset="0"/>
                <a:cs typeface="Segoe UI" panose="020B0502040204020203" pitchFamily="34" charset="0"/>
              </a:rPr>
              <a:t>- Restaurants with </a:t>
            </a:r>
            <a:r>
              <a:rPr lang="en-US" b="1" dirty="0">
                <a:latin typeface="Segoe UI" panose="020B0502040204020203" pitchFamily="34" charset="0"/>
                <a:cs typeface="Segoe UI" panose="020B0502040204020203" pitchFamily="34" charset="0"/>
              </a:rPr>
              <a:t>&gt;50 </a:t>
            </a:r>
            <a:r>
              <a:rPr lang="en-US" dirty="0">
                <a:latin typeface="Segoe UI" panose="020B0502040204020203" pitchFamily="34" charset="0"/>
                <a:cs typeface="Segoe UI" panose="020B0502040204020203" pitchFamily="34" charset="0"/>
              </a:rPr>
              <a:t>pre-crisis orders</a:t>
            </a:r>
          </a:p>
          <a:p>
            <a:endParaRPr lang="en-US" dirty="0">
              <a:latin typeface="Segoe UI" panose="020B0502040204020203" pitchFamily="34" charset="0"/>
              <a:cs typeface="Segoe UI" panose="020B0502040204020203" pitchFamily="34" charset="0"/>
            </a:endParaRPr>
          </a:p>
          <a:p>
            <a:pPr marL="285750" indent="-285750" fontAlgn="ctr">
              <a:buFont typeface="Arial" panose="020B0604020202020204" pitchFamily="34" charset="0"/>
              <a:buChar char="•"/>
            </a:pPr>
            <a:r>
              <a:rPr lang="en-IN" b="1" dirty="0">
                <a:latin typeface="Segoe UI" panose="020B0502040204020203" pitchFamily="34" charset="0"/>
                <a:cs typeface="Segoe UI" panose="020B0502040204020203" pitchFamily="34" charset="0"/>
              </a:rPr>
              <a:t>Middle Value (Churned)</a:t>
            </a:r>
            <a:r>
              <a:rPr lang="en-IN" dirty="0">
                <a:latin typeface="Segoe UI" panose="020B0502040204020203" pitchFamily="34" charset="0"/>
                <a:cs typeface="Segoe UI" panose="020B0502040204020203" pitchFamily="34" charset="0"/>
              </a:rPr>
              <a:t> - </a:t>
            </a:r>
            <a:r>
              <a:rPr lang="en-US" dirty="0">
                <a:latin typeface="Segoe UI" panose="020B0502040204020203" pitchFamily="34" charset="0"/>
                <a:cs typeface="Segoe UI" panose="020B0502040204020203" pitchFamily="34" charset="0"/>
              </a:rPr>
              <a:t>Restaurants with ≥ </a:t>
            </a:r>
            <a:r>
              <a:rPr lang="en-US" b="1" dirty="0">
                <a:latin typeface="Segoe UI" panose="020B0502040204020203" pitchFamily="34" charset="0"/>
                <a:cs typeface="Segoe UI" panose="020B0502040204020203" pitchFamily="34" charset="0"/>
              </a:rPr>
              <a:t>30 </a:t>
            </a:r>
            <a:r>
              <a:rPr lang="en-US" dirty="0">
                <a:latin typeface="Segoe UI" panose="020B0502040204020203" pitchFamily="34" charset="0"/>
                <a:cs typeface="Segoe UI" panose="020B0502040204020203" pitchFamily="34" charset="0"/>
              </a:rPr>
              <a:t>pre-crisis orders</a:t>
            </a:r>
          </a:p>
          <a:p>
            <a:pPr fontAlgn="ctr"/>
            <a:endParaRPr lang="en-IN" dirty="0">
              <a:latin typeface="Segoe UI" panose="020B0502040204020203" pitchFamily="34" charset="0"/>
              <a:cs typeface="Segoe UI" panose="020B0502040204020203" pitchFamily="34" charset="0"/>
            </a:endParaRPr>
          </a:p>
          <a:p>
            <a:pPr marL="285750" indent="-285750" fontAlgn="ctr">
              <a:buFont typeface="Arial" panose="020B0604020202020204" pitchFamily="34" charset="0"/>
              <a:buChar char="•"/>
            </a:pPr>
            <a:r>
              <a:rPr lang="en-IN" b="1" dirty="0">
                <a:latin typeface="Segoe UI" panose="020B0502040204020203" pitchFamily="34" charset="0"/>
                <a:cs typeface="Segoe UI" panose="020B0502040204020203" pitchFamily="34" charset="0"/>
              </a:rPr>
              <a:t>Lower Value (Churned)- </a:t>
            </a:r>
            <a:r>
              <a:rPr lang="en-US" dirty="0">
                <a:latin typeface="Segoe UI" panose="020B0502040204020203" pitchFamily="34" charset="0"/>
                <a:cs typeface="Segoe UI" panose="020B0502040204020203" pitchFamily="34" charset="0"/>
              </a:rPr>
              <a:t>Restaurants with &lt; </a:t>
            </a:r>
            <a:r>
              <a:rPr lang="en-US" b="1" dirty="0">
                <a:latin typeface="Segoe UI" panose="020B0502040204020203" pitchFamily="34" charset="0"/>
                <a:cs typeface="Segoe UI" panose="020B0502040204020203" pitchFamily="34" charset="0"/>
              </a:rPr>
              <a:t>30 </a:t>
            </a:r>
            <a:r>
              <a:rPr lang="en-US" dirty="0">
                <a:latin typeface="Segoe UI" panose="020B0502040204020203" pitchFamily="34" charset="0"/>
                <a:cs typeface="Segoe UI" panose="020B0502040204020203" pitchFamily="34" charset="0"/>
              </a:rPr>
              <a:t>pre-crisis orders</a:t>
            </a:r>
          </a:p>
          <a:p>
            <a:pPr fontAlgn="ctr"/>
            <a:endParaRPr lang="en-US" dirty="0">
              <a:latin typeface="Segoe UI" panose="020B0502040204020203" pitchFamily="34" charset="0"/>
              <a:cs typeface="Segoe UI" panose="020B0502040204020203" pitchFamily="34" charset="0"/>
            </a:endParaRPr>
          </a:p>
          <a:p>
            <a:pPr marL="285750" indent="-285750" fontAlgn="ctr">
              <a:buFont typeface="Arial" panose="020B0604020202020204" pitchFamily="34" charset="0"/>
              <a:buChar char="•"/>
            </a:pPr>
            <a:r>
              <a:rPr lang="en-US" b="1" dirty="0" err="1">
                <a:latin typeface="Segoe UI" panose="020B0502040204020203" pitchFamily="34" charset="0"/>
                <a:cs typeface="Segoe UI" panose="020B0502040204020203" pitchFamily="34" charset="0"/>
              </a:rPr>
              <a:t>Is_Active</a:t>
            </a:r>
            <a:r>
              <a:rPr lang="en-US" b="1" dirty="0">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Restaurant which are still active.</a:t>
            </a:r>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19783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00365E3B-BBE6-6D5B-BBBB-606D041A1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626E5-AB62-3B1E-070E-8A983542E8DE}"/>
              </a:ext>
            </a:extLst>
          </p:cNvPr>
          <p:cNvSpPr>
            <a:spLocks noGrp="1"/>
          </p:cNvSpPr>
          <p:nvPr>
            <p:ph type="title"/>
          </p:nvPr>
        </p:nvSpPr>
        <p:spPr>
          <a:xfrm>
            <a:off x="838200" y="365125"/>
            <a:ext cx="10515600" cy="785249"/>
          </a:xfrm>
        </p:spPr>
        <p:txBody>
          <a:bodyPr>
            <a:normAutofit/>
          </a:bodyPr>
          <a:lstStyle/>
          <a:p>
            <a:pPr algn="ctr"/>
            <a:r>
              <a:rPr lang="en-IN" sz="3600" dirty="0"/>
              <a:t>Key Recommendations for Restaurant Retention</a:t>
            </a:r>
            <a:endParaRPr lang="en-IN" sz="3600" dirty="0">
              <a:latin typeface="Bahnschrift" panose="020B0502040204020203" pitchFamily="34" charset="0"/>
            </a:endParaRPr>
          </a:p>
        </p:txBody>
      </p:sp>
      <p:sp>
        <p:nvSpPr>
          <p:cNvPr id="5" name="TextBox 4">
            <a:extLst>
              <a:ext uri="{FF2B5EF4-FFF2-40B4-BE49-F238E27FC236}">
                <a16:creationId xmlns:a16="http://schemas.microsoft.com/office/drawing/2014/main" id="{E4CFDCE9-CFF0-9734-4EF1-C6957FACAAF5}"/>
              </a:ext>
            </a:extLst>
          </p:cNvPr>
          <p:cNvSpPr txBox="1"/>
          <p:nvPr/>
        </p:nvSpPr>
        <p:spPr>
          <a:xfrm>
            <a:off x="838200" y="1317523"/>
            <a:ext cx="10731025" cy="5078313"/>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1. Prioritize High-Risk Partners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Concentrate retention initiatives on restaurants with strong pre-crisis performance but declining recent engagement.</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Provide personalized incentives, operational assistance, and targeted reactivation programs to rebuild confidence and sustain supply diversity.</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2. Implement Tiered Retention Campaigns</a:t>
            </a:r>
          </a:p>
          <a:p>
            <a:r>
              <a:rPr lang="en-US" dirty="0">
                <a:latin typeface="Segoe UI" panose="020B0502040204020203" pitchFamily="34" charset="0"/>
                <a:cs typeface="Segoe UI" panose="020B0502040204020203" pitchFamily="34" charset="0"/>
              </a:rPr>
              <a:t>High-Value Partners: Offer loyalty bonuses, priority visibility on the platform, and temporary commission relief to reinforce partnership stability.</a:t>
            </a:r>
          </a:p>
          <a:p>
            <a:r>
              <a:rPr lang="en-US" dirty="0">
                <a:latin typeface="Segoe UI" panose="020B0502040204020203" pitchFamily="34" charset="0"/>
                <a:cs typeface="Segoe UI" panose="020B0502040204020203" pitchFamily="34" charset="0"/>
              </a:rPr>
              <a:t>Medium-Risk Partners: Deliver operational coaching focused on SLA adherence, order preparation efficiency, and customer service consistency.</a:t>
            </a:r>
          </a:p>
          <a:p>
            <a:r>
              <a:rPr lang="en-US" dirty="0">
                <a:latin typeface="Segoe UI" panose="020B0502040204020203" pitchFamily="34" charset="0"/>
                <a:cs typeface="Segoe UI" panose="020B0502040204020203" pitchFamily="34" charset="0"/>
              </a:rPr>
              <a:t>Low-Risk Partners: Maintain steady engagement through automated performance dashboards and periodic check-ins.</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3. Track Operational Health Metrics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Leverage SLA rate and average preparation time as early indicators of potential disengagement.</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Set up automated alerts to flag restaurants with rising prep times or deteriorating SLA performance, enabling timely intervention by partner management teams.</a:t>
            </a:r>
          </a:p>
        </p:txBody>
      </p:sp>
    </p:spTree>
    <p:extLst>
      <p:ext uri="{BB962C8B-B14F-4D97-AF65-F5344CB8AC3E}">
        <p14:creationId xmlns:p14="http://schemas.microsoft.com/office/powerpoint/2010/main" val="2985672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5000" b="-65000"/>
          </a:stretch>
        </a:blipFill>
        <a:effectLst/>
      </p:bgPr>
    </p:bg>
    <p:spTree>
      <p:nvGrpSpPr>
        <p:cNvPr id="1" name="">
          <a:extLst>
            <a:ext uri="{FF2B5EF4-FFF2-40B4-BE49-F238E27FC236}">
              <a16:creationId xmlns:a16="http://schemas.microsoft.com/office/drawing/2014/main" id="{D0CCFD74-F969-5DA5-53B7-6039957033B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1693814-CE0C-876A-EFB0-EAD430DAA087}"/>
              </a:ext>
            </a:extLst>
          </p:cNvPr>
          <p:cNvSpPr/>
          <p:nvPr/>
        </p:nvSpPr>
        <p:spPr>
          <a:xfrm>
            <a:off x="4109720" y="2967335"/>
            <a:ext cx="3972562" cy="1107996"/>
          </a:xfrm>
          <a:prstGeom prst="rect">
            <a:avLst/>
          </a:prstGeom>
          <a:noFill/>
        </p:spPr>
        <p:txBody>
          <a:bodyPr wrap="none" lIns="91440" tIns="45720" rIns="91440" bIns="45720">
            <a:spAutoFit/>
          </a:bodyPr>
          <a:lstStyle/>
          <a:p>
            <a:pPr algn="ctr"/>
            <a:r>
              <a:rPr lang="en-US" sz="6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Bahnschrift" panose="020B0502040204020203" pitchFamily="34" charset="0"/>
              </a:rPr>
              <a:t>Thank You</a:t>
            </a:r>
          </a:p>
        </p:txBody>
      </p:sp>
    </p:spTree>
    <p:extLst>
      <p:ext uri="{BB962C8B-B14F-4D97-AF65-F5344CB8AC3E}">
        <p14:creationId xmlns:p14="http://schemas.microsoft.com/office/powerpoint/2010/main" val="1310919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1630</TotalTime>
  <Words>1592</Words>
  <Application>Microsoft Office PowerPoint</Application>
  <PresentationFormat>Widescreen</PresentationFormat>
  <Paragraphs>141</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Bahnschrift</vt:lpstr>
      <vt:lpstr>Calibri</vt:lpstr>
      <vt:lpstr>Calibri Light</vt:lpstr>
      <vt:lpstr>Segoe UI</vt:lpstr>
      <vt:lpstr>Wingdings</vt:lpstr>
      <vt:lpstr>Office Theme</vt:lpstr>
      <vt:lpstr>PowerPoint Presentation</vt:lpstr>
      <vt:lpstr>Problem statement</vt:lpstr>
      <vt:lpstr>Monthly Orders Trend</vt:lpstr>
      <vt:lpstr>City-wise Impact</vt:lpstr>
      <vt:lpstr>High-Volume Restaurant Decline</vt:lpstr>
      <vt:lpstr>Cancellation Trends</vt:lpstr>
      <vt:lpstr>PowerPoint Presentation</vt:lpstr>
      <vt:lpstr>Delivery SLA</vt:lpstr>
      <vt:lpstr>Customer Ratings</vt:lpstr>
      <vt:lpstr>Sentiment Analysis</vt:lpstr>
      <vt:lpstr>Revenue Impact</vt:lpstr>
      <vt:lpstr>Loyalty Impact</vt:lpstr>
      <vt:lpstr>Customer Lifetime Decline</vt:lpstr>
      <vt:lpstr>Crisis Snapshot: QuickBite vs Competitors (Q2 FY25)</vt:lpstr>
      <vt:lpstr>Customer Risk Classification</vt:lpstr>
      <vt:lpstr>Customer Recovery Strategy</vt:lpstr>
      <vt:lpstr>PowerPoint Presentation</vt:lpstr>
      <vt:lpstr>Churn Impact by Restaurant Value Segment</vt:lpstr>
      <vt:lpstr>Key Recommendations for Restaurant Retention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Ankur katiyar</dc:creator>
  <cp:lastModifiedBy>Ankur katiyar</cp:lastModifiedBy>
  <cp:revision>10</cp:revision>
  <dcterms:created xsi:type="dcterms:W3CDTF">2025-11-03T12:43:34Z</dcterms:created>
  <dcterms:modified xsi:type="dcterms:W3CDTF">2025-11-09T13:08:52Z</dcterms:modified>
</cp:coreProperties>
</file>